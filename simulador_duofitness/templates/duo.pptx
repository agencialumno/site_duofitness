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85" r:id="rId14"/>
    <p:sldId id="268" r:id="rId15"/>
    <p:sldId id="270" r:id="rId16"/>
    <p:sldId id="273" r:id="rId17"/>
    <p:sldId id="269" r:id="rId18"/>
    <p:sldId id="275" r:id="rId19"/>
    <p:sldId id="274" r:id="rId20"/>
    <p:sldId id="276" r:id="rId21"/>
    <p:sldId id="278" r:id="rId22"/>
    <p:sldId id="277" r:id="rId23"/>
    <p:sldId id="279" r:id="rId24"/>
    <p:sldId id="280" r:id="rId25"/>
    <p:sldId id="281" r:id="rId26"/>
    <p:sldId id="282" r:id="rId27"/>
    <p:sldId id="283" r:id="rId28"/>
    <p:sldId id="284" r:id="rId29"/>
  </p:sldIdLst>
  <p:sldSz cx="18288000" cy="10287000"/>
  <p:notesSz cx="6858000" cy="9144000"/>
  <p:embeddedFontLst>
    <p:embeddedFont>
      <p:font typeface="Open Sans" pitchFamily="2" charset="0"/>
      <p:regular r:id="rId30"/>
      <p:bold r:id="rId31"/>
      <p:boldItalic r:id="rId32"/>
    </p:embeddedFont>
    <p:embeddedFont>
      <p:font typeface="Open Sans Bold" pitchFamily="2" charset="0"/>
      <p:bold r:id="rId33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D300"/>
    <a:srgbClr val="19120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 autoAdjust="0"/>
    <p:restoredTop sz="94622" autoAdjust="0"/>
  </p:normalViewPr>
  <p:slideViewPr>
    <p:cSldViewPr>
      <p:cViewPr varScale="1">
        <p:scale>
          <a:sx n="52" d="100"/>
          <a:sy n="52" d="100"/>
        </p:scale>
        <p:origin x="850" y="62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34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font" Target="fonts/font4.fntdata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font" Target="fonts/font3.fntdata"/><Relationship Id="rId37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font" Target="fonts/font2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font" Target="fonts/font1.fntdata"/><Relationship Id="rId35" Type="http://schemas.openxmlformats.org/officeDocument/2006/relationships/viewProps" Target="viewProps.xml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6/30/2026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6/30/2026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6/30/2026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6/30/2026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6/30/2026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6/30/2026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6/30/2026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6/30/2026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6/30/2026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6/30/2026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6/30/2026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6/30/2026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7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7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7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  <p:grpSp>
        <p:nvGrpSpPr>
          <p:cNvPr id="3" name="Group 3"/>
          <p:cNvGrpSpPr/>
          <p:nvPr/>
        </p:nvGrpSpPr>
        <p:grpSpPr>
          <a:xfrm>
            <a:off x="989874" y="5415783"/>
            <a:ext cx="4345068" cy="826209"/>
            <a:chOff x="0" y="0"/>
            <a:chExt cx="1437020" cy="273248"/>
          </a:xfrm>
        </p:grpSpPr>
        <p:sp>
          <p:nvSpPr>
            <p:cNvPr id="4" name="Freeform 4"/>
            <p:cNvSpPr/>
            <p:nvPr/>
          </p:nvSpPr>
          <p:spPr>
            <a:xfrm>
              <a:off x="0" y="0"/>
              <a:ext cx="1437020" cy="273248"/>
            </a:xfrm>
            <a:custGeom>
              <a:avLst/>
              <a:gdLst/>
              <a:ahLst/>
              <a:cxnLst/>
              <a:rect l="l" t="t" r="r" b="b"/>
              <a:pathLst>
                <a:path w="1437020" h="273248">
                  <a:moveTo>
                    <a:pt x="0" y="0"/>
                  </a:moveTo>
                  <a:lnTo>
                    <a:pt x="1437020" y="0"/>
                  </a:lnTo>
                  <a:lnTo>
                    <a:pt x="1437020" y="273248"/>
                  </a:lnTo>
                  <a:lnTo>
                    <a:pt x="0" y="273248"/>
                  </a:ln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id="5" name="TextBox 5"/>
            <p:cNvSpPr txBox="1"/>
            <p:nvPr/>
          </p:nvSpPr>
          <p:spPr>
            <a:xfrm>
              <a:off x="0" y="-38100"/>
              <a:ext cx="1437020" cy="311348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  <a:r>
                <a:rPr lang="en-US" sz="1899">
                  <a:solidFill>
                    <a:srgbClr val="000000"/>
                  </a:solidFill>
                  <a:latin typeface="Open Sans"/>
                  <a:ea typeface="Open Sans"/>
                  <a:cs typeface="Open Sans"/>
                  <a:sym typeface="Open Sans"/>
                </a:rPr>
                <a:t> </a:t>
              </a:r>
            </a:p>
          </p:txBody>
        </p:sp>
      </p:grpSp>
      <p:grpSp>
        <p:nvGrpSpPr>
          <p:cNvPr id="6" name="Group 6"/>
          <p:cNvGrpSpPr/>
          <p:nvPr/>
        </p:nvGrpSpPr>
        <p:grpSpPr>
          <a:xfrm>
            <a:off x="2783941" y="5415783"/>
            <a:ext cx="4345068" cy="826209"/>
            <a:chOff x="0" y="0"/>
            <a:chExt cx="1437020" cy="273248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1437020" cy="273248"/>
            </a:xfrm>
            <a:custGeom>
              <a:avLst/>
              <a:gdLst/>
              <a:ahLst/>
              <a:cxnLst/>
              <a:rect l="l" t="t" r="r" b="b"/>
              <a:pathLst>
                <a:path w="1437020" h="273248">
                  <a:moveTo>
                    <a:pt x="0" y="0"/>
                  </a:moveTo>
                  <a:lnTo>
                    <a:pt x="1437020" y="0"/>
                  </a:lnTo>
                  <a:lnTo>
                    <a:pt x="1437020" y="273248"/>
                  </a:lnTo>
                  <a:lnTo>
                    <a:pt x="0" y="273248"/>
                  </a:lnTo>
                  <a:close/>
                </a:path>
              </a:pathLst>
            </a:custGeom>
            <a:solidFill>
              <a:srgbClr val="FFD300"/>
            </a:solidFill>
          </p:spPr>
        </p:sp>
        <p:sp>
          <p:nvSpPr>
            <p:cNvPr id="8" name="TextBox 8"/>
            <p:cNvSpPr txBox="1"/>
            <p:nvPr/>
          </p:nvSpPr>
          <p:spPr>
            <a:xfrm>
              <a:off x="0" y="-38100"/>
              <a:ext cx="1437020" cy="311348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  <a:r>
                <a:rPr lang="en-US" sz="1899">
                  <a:solidFill>
                    <a:srgbClr val="000000"/>
                  </a:solidFill>
                  <a:latin typeface="Open Sans"/>
                  <a:ea typeface="Open Sans"/>
                  <a:cs typeface="Open Sans"/>
                  <a:sym typeface="Open Sans"/>
                </a:rPr>
                <a:t> </a:t>
              </a:r>
            </a:p>
          </p:txBody>
        </p:sp>
      </p:grpSp>
      <p:sp>
        <p:nvSpPr>
          <p:cNvPr id="9" name="TextBox 9"/>
          <p:cNvSpPr txBox="1"/>
          <p:nvPr/>
        </p:nvSpPr>
        <p:spPr>
          <a:xfrm>
            <a:off x="2897064" y="5525788"/>
            <a:ext cx="4345068" cy="534826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4662"/>
              </a:lnSpc>
            </a:pPr>
            <a:r>
              <a:rPr lang="en-US" sz="2500" b="1" dirty="0">
                <a:solidFill>
                  <a:srgbClr val="000000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[NOME]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989874" y="6368859"/>
            <a:ext cx="4191726" cy="372025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3122"/>
              </a:lnSpc>
            </a:pPr>
            <a:r>
              <a:rPr lang="en-US" sz="2230" dirty="0" err="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Validade</a:t>
            </a:r>
            <a:r>
              <a:rPr lang="en-US" sz="2230" dirty="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 da </a:t>
            </a:r>
            <a:r>
              <a:rPr lang="en-US" sz="2230" dirty="0" err="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proposta</a:t>
            </a:r>
            <a:r>
              <a:rPr lang="en-US" sz="2230" dirty="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: 10 </a:t>
            </a:r>
            <a:r>
              <a:rPr lang="en-US" sz="2230" dirty="0" err="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dias</a:t>
            </a:r>
            <a:endParaRPr lang="en-US" sz="2230" dirty="0">
              <a:solidFill>
                <a:srgbClr val="FFFFFF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  <p:sp>
        <p:nvSpPr>
          <p:cNvPr id="11" name="TextBox 11"/>
          <p:cNvSpPr txBox="1"/>
          <p:nvPr/>
        </p:nvSpPr>
        <p:spPr>
          <a:xfrm>
            <a:off x="1157720" y="5508677"/>
            <a:ext cx="1530522" cy="57374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662"/>
              </a:lnSpc>
            </a:pPr>
            <a:r>
              <a:rPr lang="en-US" sz="3330" b="1" i="1">
                <a:solidFill>
                  <a:srgbClr val="0000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Cliente: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  <p:sp>
        <p:nvSpPr>
          <p:cNvPr id="3" name="TextBox 3"/>
          <p:cNvSpPr txBox="1"/>
          <p:nvPr/>
        </p:nvSpPr>
        <p:spPr>
          <a:xfrm>
            <a:off x="9143931" y="7636273"/>
            <a:ext cx="8915469" cy="104150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[ESTEIRA]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3B55B603-80F3-3401-EC36-106890418E2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995554EB-6192-7D60-653E-8534F78C9944}"/>
              </a:ext>
            </a:extLst>
          </p:cNvPr>
          <p:cNvSpPr txBox="1"/>
          <p:nvPr/>
        </p:nvSpPr>
        <p:spPr>
          <a:xfrm>
            <a:off x="7772400" y="7658100"/>
            <a:ext cx="10363200" cy="104150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[BIKE_KIKOS]</a:t>
            </a:r>
          </a:p>
        </p:txBody>
      </p:sp>
    </p:spTree>
    <p:extLst>
      <p:ext uri="{BB962C8B-B14F-4D97-AF65-F5344CB8AC3E}">
        <p14:creationId xmlns:p14="http://schemas.microsoft.com/office/powerpoint/2010/main" val="163842449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/>
          <p:cNvSpPr txBox="1"/>
          <p:nvPr/>
        </p:nvSpPr>
        <p:spPr>
          <a:xfrm>
            <a:off x="9143931" y="7636273"/>
            <a:ext cx="7239069" cy="104522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02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B4A5C2A8-01D7-D7F3-1A75-D947A552A0C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A437C1AF-F209-374A-928D-1EB48049732A}"/>
              </a:ext>
            </a:extLst>
          </p:cNvPr>
          <p:cNvSpPr txBox="1"/>
          <p:nvPr/>
        </p:nvSpPr>
        <p:spPr>
          <a:xfrm>
            <a:off x="7772400" y="7658100"/>
            <a:ext cx="10058400" cy="104150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[BIKE_SPI]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/>
          <p:cNvSpPr txBox="1"/>
          <p:nvPr/>
        </p:nvSpPr>
        <p:spPr>
          <a:xfrm>
            <a:off x="9144000" y="7636273"/>
            <a:ext cx="6858000" cy="104522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01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8A5A8814-47CF-9681-7B07-F1616B2000E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2193530F-E201-BE38-7CD6-187BDECFD522}"/>
              </a:ext>
            </a:extLst>
          </p:cNvPr>
          <p:cNvSpPr txBox="1"/>
          <p:nvPr/>
        </p:nvSpPr>
        <p:spPr>
          <a:xfrm>
            <a:off x="7772400" y="7658100"/>
            <a:ext cx="11277600" cy="104150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[CROSS_SMITH]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  <p:sp>
        <p:nvSpPr>
          <p:cNvPr id="3" name="TextBox 3"/>
          <p:cNvSpPr txBox="1"/>
          <p:nvPr/>
        </p:nvSpPr>
        <p:spPr>
          <a:xfrm>
            <a:off x="8763000" y="7658100"/>
            <a:ext cx="9982200" cy="104150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[AD_ABD]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  <p:sp>
        <p:nvSpPr>
          <p:cNvPr id="3" name="TextBox 3"/>
          <p:cNvSpPr txBox="1"/>
          <p:nvPr/>
        </p:nvSpPr>
        <p:spPr>
          <a:xfrm>
            <a:off x="7620000" y="8953500"/>
            <a:ext cx="9220200" cy="104150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[EX_FLX]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7C1E31A3-769F-D5DC-876D-F0327AE82E6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TextBox 3"/>
          <p:cNvSpPr txBox="1"/>
          <p:nvPr/>
        </p:nvSpPr>
        <p:spPr>
          <a:xfrm>
            <a:off x="7162800" y="7658100"/>
            <a:ext cx="11353800" cy="104150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[BANCO_MULT]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  <p:sp>
        <p:nvSpPr>
          <p:cNvPr id="3" name="TextBox 3"/>
          <p:cNvSpPr txBox="1"/>
          <p:nvPr/>
        </p:nvSpPr>
        <p:spPr>
          <a:xfrm>
            <a:off x="8077200" y="7658100"/>
            <a:ext cx="10439400" cy="104150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[BANCO_SUP]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/>
          <p:cNvSpPr txBox="1"/>
          <p:nvPr/>
        </p:nvSpPr>
        <p:spPr>
          <a:xfrm>
            <a:off x="6112775" y="4895896"/>
            <a:ext cx="8441425" cy="104303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110 kg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D2414353-6CD7-8607-46C7-6120C187B35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38100"/>
            <a:ext cx="18288000" cy="10287000"/>
          </a:xfrm>
          <a:prstGeom prst="rect">
            <a:avLst/>
          </a:prstGeom>
        </p:spPr>
      </p:pic>
      <p:sp>
        <p:nvSpPr>
          <p:cNvPr id="4" name="TextBox 4"/>
          <p:cNvSpPr txBox="1"/>
          <p:nvPr/>
        </p:nvSpPr>
        <p:spPr>
          <a:xfrm>
            <a:off x="6375818" y="6286500"/>
            <a:ext cx="9601200" cy="104150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[HALTER]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239000" y="8520061"/>
            <a:ext cx="8738018" cy="104303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[ANILHA]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/>
          <p:cNvSpPr txBox="1"/>
          <p:nvPr/>
        </p:nvSpPr>
        <p:spPr>
          <a:xfrm>
            <a:off x="6698690" y="8984030"/>
            <a:ext cx="6712510" cy="104303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01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72161DAF-895A-B196-F3C0-F6759CB1341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5" name="TextBox 5"/>
          <p:cNvSpPr txBox="1"/>
          <p:nvPr/>
        </p:nvSpPr>
        <p:spPr>
          <a:xfrm>
            <a:off x="6781800" y="7734300"/>
            <a:ext cx="10134600" cy="104150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[BARRA_W]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ABF5B4B9-6CE3-C9C4-76B1-B98417ACA00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4" name="TextBox 4"/>
          <p:cNvSpPr txBox="1"/>
          <p:nvPr/>
        </p:nvSpPr>
        <p:spPr>
          <a:xfrm>
            <a:off x="6073876" y="8420100"/>
            <a:ext cx="10842524" cy="104303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[SUP_HALTER]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6096000" y="6234061"/>
            <a:ext cx="11049000" cy="104150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[SUP_BARRA]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16A46832-8710-6AB8-7D28-B6D51F0465F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TextBox 3"/>
          <p:cNvSpPr txBox="1"/>
          <p:nvPr/>
        </p:nvSpPr>
        <p:spPr>
          <a:xfrm>
            <a:off x="7519885" y="5270903"/>
            <a:ext cx="8786915" cy="87852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7212"/>
              </a:lnSpc>
            </a:pPr>
            <a:r>
              <a:rPr lang="en-US" sz="5151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5151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[TRI_SERG]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329510" y="7130499"/>
            <a:ext cx="9044090" cy="87852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7212"/>
              </a:lnSpc>
            </a:pPr>
            <a:r>
              <a:rPr lang="en-US" sz="5151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5151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[CORDA_SERG]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9210572" y="8938978"/>
            <a:ext cx="8315428" cy="87852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7212"/>
              </a:lnSpc>
            </a:pPr>
            <a:r>
              <a:rPr lang="en-US" sz="5151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5151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[PUX_ROMA]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B15138D4-421A-804B-9B31-3C89E1DA793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TextBox 3"/>
          <p:cNvSpPr txBox="1"/>
          <p:nvPr/>
        </p:nvSpPr>
        <p:spPr>
          <a:xfrm>
            <a:off x="6629400" y="6438900"/>
            <a:ext cx="9220200" cy="87852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7212"/>
              </a:lnSpc>
            </a:pPr>
            <a:r>
              <a:rPr lang="en-US" sz="5151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5151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[PUX_RETO]</a:t>
            </a:r>
          </a:p>
        </p:txBody>
      </p:sp>
      <p:sp>
        <p:nvSpPr>
          <p:cNvPr id="6" name="TextBox 3">
            <a:extLst>
              <a:ext uri="{FF2B5EF4-FFF2-40B4-BE49-F238E27FC236}">
                <a16:creationId xmlns:a16="http://schemas.microsoft.com/office/drawing/2014/main" id="{8AEFA930-84F7-9A6A-D9FE-0EC501CFAF7A}"/>
              </a:ext>
            </a:extLst>
          </p:cNvPr>
          <p:cNvSpPr txBox="1"/>
          <p:nvPr/>
        </p:nvSpPr>
        <p:spPr>
          <a:xfrm>
            <a:off x="7467600" y="8344515"/>
            <a:ext cx="9220200" cy="87852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7212"/>
              </a:lnSpc>
            </a:pPr>
            <a:r>
              <a:rPr lang="en-US" sz="5151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5151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[PUX_TORNO]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5B6CB9E0-3E2F-1F48-F034-A2C48615AF0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4" name="TextBox 4"/>
          <p:cNvSpPr txBox="1"/>
          <p:nvPr/>
        </p:nvSpPr>
        <p:spPr>
          <a:xfrm>
            <a:off x="8001000" y="6286500"/>
            <a:ext cx="9601200" cy="86299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7212"/>
              </a:lnSpc>
            </a:pPr>
            <a:r>
              <a:rPr lang="en-US" sz="5151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5151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[COLCHONETE]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8001000" y="8295353"/>
            <a:ext cx="9906000" cy="86299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7212"/>
              </a:lnSpc>
            </a:pPr>
            <a:r>
              <a:rPr lang="en-US" sz="5151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5151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[STEP_LIGHT]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  <p:sp>
        <p:nvSpPr>
          <p:cNvPr id="3" name="TextBox 3"/>
          <p:cNvSpPr txBox="1"/>
          <p:nvPr/>
        </p:nvSpPr>
        <p:spPr>
          <a:xfrm>
            <a:off x="7955943" y="3771900"/>
            <a:ext cx="4394015" cy="305413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067"/>
              </a:lnSpc>
            </a:pPr>
            <a:r>
              <a:rPr lang="en-US" sz="2190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Rack Vertical - (10 pares)</a:t>
            </a:r>
          </a:p>
          <a:p>
            <a:pPr algn="l">
              <a:lnSpc>
                <a:spcPts val="3067"/>
              </a:lnSpc>
            </a:pPr>
            <a:r>
              <a:rPr lang="en-US" sz="2190" dirty="0" err="1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Suporte</a:t>
            </a:r>
            <a:r>
              <a:rPr lang="en-US" sz="2190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 Barras / </a:t>
            </a:r>
            <a:r>
              <a:rPr lang="en-US" sz="2190" dirty="0" err="1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Anilhas</a:t>
            </a:r>
            <a:endParaRPr lang="en-US" sz="2190" dirty="0">
              <a:solidFill>
                <a:srgbClr val="000000"/>
              </a:solidFill>
              <a:latin typeface="Open Sans"/>
              <a:ea typeface="Open Sans"/>
              <a:cs typeface="Open Sans"/>
              <a:sym typeface="Open Sans"/>
            </a:endParaRPr>
          </a:p>
          <a:p>
            <a:pPr algn="l">
              <a:lnSpc>
                <a:spcPts val="3067"/>
              </a:lnSpc>
            </a:pPr>
            <a:r>
              <a:rPr lang="en-US" sz="2190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Storage Rack - (15 pares)</a:t>
            </a:r>
          </a:p>
          <a:p>
            <a:pPr algn="l">
              <a:lnSpc>
                <a:spcPts val="3067"/>
              </a:lnSpc>
            </a:pPr>
            <a:r>
              <a:rPr lang="en-US" sz="2190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Barra </a:t>
            </a:r>
            <a:r>
              <a:rPr lang="en-US" sz="2190" dirty="0" err="1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Olímpica</a:t>
            </a:r>
            <a:r>
              <a:rPr lang="en-US" sz="2190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 (1800mm)</a:t>
            </a:r>
          </a:p>
          <a:p>
            <a:pPr algn="l">
              <a:lnSpc>
                <a:spcPts val="3067"/>
              </a:lnSpc>
            </a:pPr>
            <a:r>
              <a:rPr lang="en-US" sz="2190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Barra </a:t>
            </a:r>
            <a:r>
              <a:rPr lang="en-US" sz="2190" dirty="0" err="1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Olímpica</a:t>
            </a:r>
            <a:r>
              <a:rPr lang="en-US" sz="2190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 (50mm - 1200mm)</a:t>
            </a:r>
          </a:p>
          <a:p>
            <a:pPr algn="l">
              <a:lnSpc>
                <a:spcPts val="3067"/>
              </a:lnSpc>
            </a:pPr>
            <a:r>
              <a:rPr lang="en-US" sz="2190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Barra </a:t>
            </a:r>
            <a:r>
              <a:rPr lang="en-US" sz="2190" dirty="0" err="1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Curvada</a:t>
            </a:r>
            <a:endParaRPr lang="en-US" sz="2190" dirty="0">
              <a:solidFill>
                <a:srgbClr val="000000"/>
              </a:solidFill>
              <a:latin typeface="Open Sans"/>
              <a:ea typeface="Open Sans"/>
              <a:cs typeface="Open Sans"/>
              <a:sym typeface="Open Sans"/>
            </a:endParaRPr>
          </a:p>
          <a:p>
            <a:pPr algn="l">
              <a:lnSpc>
                <a:spcPts val="3067"/>
              </a:lnSpc>
            </a:pPr>
            <a:r>
              <a:rPr lang="en-US" sz="2190" dirty="0" err="1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Triângulo</a:t>
            </a:r>
            <a:r>
              <a:rPr lang="en-US" sz="2190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 Cross</a:t>
            </a:r>
          </a:p>
          <a:p>
            <a:pPr algn="l">
              <a:lnSpc>
                <a:spcPts val="3067"/>
              </a:lnSpc>
            </a:pPr>
            <a:r>
              <a:rPr lang="en-US" sz="2190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Corda Cross</a:t>
            </a:r>
          </a:p>
        </p:txBody>
      </p:sp>
      <p:grpSp>
        <p:nvGrpSpPr>
          <p:cNvPr id="4" name="Group 4"/>
          <p:cNvGrpSpPr/>
          <p:nvPr/>
        </p:nvGrpSpPr>
        <p:grpSpPr>
          <a:xfrm>
            <a:off x="2590800" y="3471477"/>
            <a:ext cx="335199" cy="278090"/>
            <a:chOff x="0" y="0"/>
            <a:chExt cx="62793" cy="73242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62793" cy="73242"/>
            </a:xfrm>
            <a:custGeom>
              <a:avLst/>
              <a:gdLst/>
              <a:ahLst/>
              <a:cxnLst/>
              <a:rect l="l" t="t" r="r" b="b"/>
              <a:pathLst>
                <a:path w="62793" h="73242">
                  <a:moveTo>
                    <a:pt x="0" y="0"/>
                  </a:moveTo>
                  <a:lnTo>
                    <a:pt x="62793" y="0"/>
                  </a:lnTo>
                  <a:lnTo>
                    <a:pt x="62793" y="73242"/>
                  </a:lnTo>
                  <a:lnTo>
                    <a:pt x="0" y="73242"/>
                  </a:lnTo>
                  <a:close/>
                </a:path>
              </a:pathLst>
            </a:custGeom>
            <a:solidFill>
              <a:srgbClr val="FFD300"/>
            </a:solidFill>
          </p:spPr>
        </p:sp>
        <p:sp>
          <p:nvSpPr>
            <p:cNvPr id="6" name="TextBox 6"/>
            <p:cNvSpPr txBox="1"/>
            <p:nvPr/>
          </p:nvSpPr>
          <p:spPr>
            <a:xfrm>
              <a:off x="0" y="-19050"/>
              <a:ext cx="62793" cy="922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387"/>
                </a:lnSpc>
              </a:pPr>
              <a:r>
                <a:rPr lang="en-US" sz="990" b="1" i="1">
                  <a:solidFill>
                    <a:srgbClr val="000000"/>
                  </a:solidFill>
                  <a:latin typeface="Open Sans Bold Italics"/>
                  <a:ea typeface="Open Sans Bold Italics"/>
                  <a:cs typeface="Open Sans Bold Italics"/>
                  <a:sym typeface="Open Sans Bold Italics"/>
                </a:rPr>
                <a:t>03</a:t>
              </a:r>
            </a:p>
          </p:txBody>
        </p:sp>
      </p:grpSp>
      <p:grpSp>
        <p:nvGrpSpPr>
          <p:cNvPr id="7" name="Group 7"/>
          <p:cNvGrpSpPr/>
          <p:nvPr/>
        </p:nvGrpSpPr>
        <p:grpSpPr>
          <a:xfrm>
            <a:off x="2590800" y="3833495"/>
            <a:ext cx="335199" cy="278090"/>
            <a:chOff x="0" y="0"/>
            <a:chExt cx="62793" cy="73242"/>
          </a:xfrm>
        </p:grpSpPr>
        <p:sp>
          <p:nvSpPr>
            <p:cNvPr id="8" name="Freeform 8"/>
            <p:cNvSpPr/>
            <p:nvPr/>
          </p:nvSpPr>
          <p:spPr>
            <a:xfrm>
              <a:off x="0" y="0"/>
              <a:ext cx="62793" cy="73242"/>
            </a:xfrm>
            <a:custGeom>
              <a:avLst/>
              <a:gdLst/>
              <a:ahLst/>
              <a:cxnLst/>
              <a:rect l="l" t="t" r="r" b="b"/>
              <a:pathLst>
                <a:path w="62793" h="73242">
                  <a:moveTo>
                    <a:pt x="0" y="0"/>
                  </a:moveTo>
                  <a:lnTo>
                    <a:pt x="62793" y="0"/>
                  </a:lnTo>
                  <a:lnTo>
                    <a:pt x="62793" y="73242"/>
                  </a:lnTo>
                  <a:lnTo>
                    <a:pt x="0" y="73242"/>
                  </a:lnTo>
                  <a:close/>
                </a:path>
              </a:pathLst>
            </a:custGeom>
            <a:solidFill>
              <a:srgbClr val="FFD300"/>
            </a:solidFill>
          </p:spPr>
        </p:sp>
        <p:sp>
          <p:nvSpPr>
            <p:cNvPr id="9" name="TextBox 9"/>
            <p:cNvSpPr txBox="1"/>
            <p:nvPr/>
          </p:nvSpPr>
          <p:spPr>
            <a:xfrm>
              <a:off x="0" y="-19050"/>
              <a:ext cx="62793" cy="922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387"/>
                </a:lnSpc>
              </a:pPr>
              <a:r>
                <a:rPr lang="en-US" sz="990" b="1" i="1" dirty="0">
                  <a:solidFill>
                    <a:srgbClr val="000000"/>
                  </a:solidFill>
                  <a:latin typeface="Open Sans Bold Italics"/>
                  <a:ea typeface="Open Sans Bold Italics"/>
                  <a:cs typeface="Open Sans Bold Italics"/>
                  <a:sym typeface="Open Sans Bold Italics"/>
                </a:rPr>
                <a:t>02</a:t>
              </a:r>
            </a:p>
          </p:txBody>
        </p:sp>
      </p:grpSp>
      <p:grpSp>
        <p:nvGrpSpPr>
          <p:cNvPr id="10" name="Group 10"/>
          <p:cNvGrpSpPr/>
          <p:nvPr/>
        </p:nvGrpSpPr>
        <p:grpSpPr>
          <a:xfrm>
            <a:off x="7620000" y="3780147"/>
            <a:ext cx="335943" cy="350420"/>
            <a:chOff x="0" y="-19050"/>
            <a:chExt cx="62793" cy="92292"/>
          </a:xfrm>
        </p:grpSpPr>
        <p:sp>
          <p:nvSpPr>
            <p:cNvPr id="11" name="Freeform 11"/>
            <p:cNvSpPr/>
            <p:nvPr/>
          </p:nvSpPr>
          <p:spPr>
            <a:xfrm>
              <a:off x="0" y="0"/>
              <a:ext cx="62793" cy="73242"/>
            </a:xfrm>
            <a:custGeom>
              <a:avLst/>
              <a:gdLst/>
              <a:ahLst/>
              <a:cxnLst/>
              <a:rect l="l" t="t" r="r" b="b"/>
              <a:pathLst>
                <a:path w="62793" h="73242">
                  <a:moveTo>
                    <a:pt x="0" y="0"/>
                  </a:moveTo>
                  <a:lnTo>
                    <a:pt x="62793" y="0"/>
                  </a:lnTo>
                  <a:lnTo>
                    <a:pt x="62793" y="73242"/>
                  </a:lnTo>
                  <a:lnTo>
                    <a:pt x="0" y="73242"/>
                  </a:lnTo>
                  <a:close/>
                </a:path>
              </a:pathLst>
            </a:custGeom>
            <a:solidFill>
              <a:srgbClr val="FFD300"/>
            </a:solidFill>
          </p:spPr>
        </p:sp>
        <p:sp>
          <p:nvSpPr>
            <p:cNvPr id="12" name="TextBox 12"/>
            <p:cNvSpPr txBox="1"/>
            <p:nvPr/>
          </p:nvSpPr>
          <p:spPr>
            <a:xfrm>
              <a:off x="0" y="-19050"/>
              <a:ext cx="62793" cy="922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387"/>
                </a:lnSpc>
              </a:pPr>
              <a:r>
                <a:rPr lang="en-US" sz="990" b="1" i="1" dirty="0">
                  <a:solidFill>
                    <a:srgbClr val="000000"/>
                  </a:solidFill>
                  <a:latin typeface="Open Sans Bold Italics"/>
                  <a:ea typeface="Open Sans Bold Italics"/>
                  <a:cs typeface="Open Sans Bold Italics"/>
                  <a:sym typeface="Open Sans Bold Italics"/>
                </a:rPr>
                <a:t>01</a:t>
              </a:r>
            </a:p>
          </p:txBody>
        </p:sp>
      </p:grpSp>
      <p:grpSp>
        <p:nvGrpSpPr>
          <p:cNvPr id="13" name="Group 13"/>
          <p:cNvGrpSpPr/>
          <p:nvPr/>
        </p:nvGrpSpPr>
        <p:grpSpPr>
          <a:xfrm>
            <a:off x="12877800" y="4200100"/>
            <a:ext cx="325897" cy="278090"/>
            <a:chOff x="0" y="0"/>
            <a:chExt cx="62793" cy="73242"/>
          </a:xfrm>
        </p:grpSpPr>
        <p:sp>
          <p:nvSpPr>
            <p:cNvPr id="14" name="Freeform 14"/>
            <p:cNvSpPr/>
            <p:nvPr/>
          </p:nvSpPr>
          <p:spPr>
            <a:xfrm>
              <a:off x="0" y="0"/>
              <a:ext cx="62793" cy="73242"/>
            </a:xfrm>
            <a:custGeom>
              <a:avLst/>
              <a:gdLst/>
              <a:ahLst/>
              <a:cxnLst/>
              <a:rect l="l" t="t" r="r" b="b"/>
              <a:pathLst>
                <a:path w="62793" h="73242">
                  <a:moveTo>
                    <a:pt x="0" y="0"/>
                  </a:moveTo>
                  <a:lnTo>
                    <a:pt x="62793" y="0"/>
                  </a:lnTo>
                  <a:lnTo>
                    <a:pt x="62793" y="73242"/>
                  </a:lnTo>
                  <a:lnTo>
                    <a:pt x="0" y="73242"/>
                  </a:lnTo>
                  <a:close/>
                </a:path>
              </a:pathLst>
            </a:custGeom>
            <a:solidFill>
              <a:srgbClr val="FFD300"/>
            </a:solidFill>
          </p:spPr>
        </p:sp>
        <p:sp>
          <p:nvSpPr>
            <p:cNvPr id="15" name="TextBox 15"/>
            <p:cNvSpPr txBox="1"/>
            <p:nvPr/>
          </p:nvSpPr>
          <p:spPr>
            <a:xfrm>
              <a:off x="0" y="-19050"/>
              <a:ext cx="62793" cy="922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387"/>
                </a:lnSpc>
              </a:pPr>
              <a:r>
                <a:rPr lang="en-US" sz="990" b="1" i="1">
                  <a:solidFill>
                    <a:srgbClr val="000000"/>
                  </a:solidFill>
                  <a:latin typeface="Open Sans Bold Italics"/>
                  <a:ea typeface="Open Sans Bold Italics"/>
                  <a:cs typeface="Open Sans Bold Italics"/>
                  <a:sym typeface="Open Sans Bold Italics"/>
                </a:rPr>
                <a:t>01</a:t>
              </a:r>
            </a:p>
          </p:txBody>
        </p:sp>
      </p:grpSp>
      <p:grpSp>
        <p:nvGrpSpPr>
          <p:cNvPr id="16" name="Group 16"/>
          <p:cNvGrpSpPr/>
          <p:nvPr/>
        </p:nvGrpSpPr>
        <p:grpSpPr>
          <a:xfrm>
            <a:off x="12877800" y="4581167"/>
            <a:ext cx="325897" cy="278090"/>
            <a:chOff x="0" y="0"/>
            <a:chExt cx="62793" cy="73242"/>
          </a:xfrm>
        </p:grpSpPr>
        <p:sp>
          <p:nvSpPr>
            <p:cNvPr id="17" name="Freeform 17"/>
            <p:cNvSpPr/>
            <p:nvPr/>
          </p:nvSpPr>
          <p:spPr>
            <a:xfrm>
              <a:off x="0" y="0"/>
              <a:ext cx="62793" cy="73242"/>
            </a:xfrm>
            <a:custGeom>
              <a:avLst/>
              <a:gdLst/>
              <a:ahLst/>
              <a:cxnLst/>
              <a:rect l="l" t="t" r="r" b="b"/>
              <a:pathLst>
                <a:path w="62793" h="73242">
                  <a:moveTo>
                    <a:pt x="0" y="0"/>
                  </a:moveTo>
                  <a:lnTo>
                    <a:pt x="62793" y="0"/>
                  </a:lnTo>
                  <a:lnTo>
                    <a:pt x="62793" y="73242"/>
                  </a:lnTo>
                  <a:lnTo>
                    <a:pt x="0" y="73242"/>
                  </a:lnTo>
                  <a:close/>
                </a:path>
              </a:pathLst>
            </a:custGeom>
            <a:solidFill>
              <a:srgbClr val="FFD300"/>
            </a:solidFill>
          </p:spPr>
        </p:sp>
        <p:sp>
          <p:nvSpPr>
            <p:cNvPr id="18" name="TextBox 18"/>
            <p:cNvSpPr txBox="1"/>
            <p:nvPr/>
          </p:nvSpPr>
          <p:spPr>
            <a:xfrm>
              <a:off x="0" y="-19050"/>
              <a:ext cx="62793" cy="922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387"/>
                </a:lnSpc>
              </a:pPr>
              <a:r>
                <a:rPr lang="en-US" sz="990" b="1" i="1">
                  <a:solidFill>
                    <a:srgbClr val="000000"/>
                  </a:solidFill>
                  <a:latin typeface="Open Sans Bold Italics"/>
                  <a:ea typeface="Open Sans Bold Italics"/>
                  <a:cs typeface="Open Sans Bold Italics"/>
                  <a:sym typeface="Open Sans Bold Italics"/>
                </a:rPr>
                <a:t>01</a:t>
              </a:r>
            </a:p>
          </p:txBody>
        </p:sp>
      </p:grpSp>
      <p:grpSp>
        <p:nvGrpSpPr>
          <p:cNvPr id="19" name="Group 19"/>
          <p:cNvGrpSpPr/>
          <p:nvPr/>
        </p:nvGrpSpPr>
        <p:grpSpPr>
          <a:xfrm>
            <a:off x="12877800" y="4964032"/>
            <a:ext cx="325897" cy="278090"/>
            <a:chOff x="0" y="0"/>
            <a:chExt cx="62793" cy="73242"/>
          </a:xfrm>
        </p:grpSpPr>
        <p:sp>
          <p:nvSpPr>
            <p:cNvPr id="20" name="Freeform 20"/>
            <p:cNvSpPr/>
            <p:nvPr/>
          </p:nvSpPr>
          <p:spPr>
            <a:xfrm>
              <a:off x="0" y="0"/>
              <a:ext cx="62793" cy="73242"/>
            </a:xfrm>
            <a:custGeom>
              <a:avLst/>
              <a:gdLst/>
              <a:ahLst/>
              <a:cxnLst/>
              <a:rect l="l" t="t" r="r" b="b"/>
              <a:pathLst>
                <a:path w="62793" h="73242">
                  <a:moveTo>
                    <a:pt x="0" y="0"/>
                  </a:moveTo>
                  <a:lnTo>
                    <a:pt x="62793" y="0"/>
                  </a:lnTo>
                  <a:lnTo>
                    <a:pt x="62793" y="73242"/>
                  </a:lnTo>
                  <a:lnTo>
                    <a:pt x="0" y="73242"/>
                  </a:lnTo>
                  <a:close/>
                </a:path>
              </a:pathLst>
            </a:custGeom>
            <a:solidFill>
              <a:srgbClr val="FFD300"/>
            </a:solidFill>
          </p:spPr>
        </p:sp>
        <p:sp>
          <p:nvSpPr>
            <p:cNvPr id="21" name="TextBox 21"/>
            <p:cNvSpPr txBox="1"/>
            <p:nvPr/>
          </p:nvSpPr>
          <p:spPr>
            <a:xfrm>
              <a:off x="0" y="-19050"/>
              <a:ext cx="62793" cy="922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387"/>
                </a:lnSpc>
              </a:pPr>
              <a:r>
                <a:rPr lang="en-US" sz="990" b="1" i="1">
                  <a:solidFill>
                    <a:srgbClr val="000000"/>
                  </a:solidFill>
                  <a:latin typeface="Open Sans Bold Italics"/>
                  <a:ea typeface="Open Sans Bold Italics"/>
                  <a:cs typeface="Open Sans Bold Italics"/>
                  <a:sym typeface="Open Sans Bold Italics"/>
                </a:rPr>
                <a:t>02</a:t>
              </a:r>
            </a:p>
          </p:txBody>
        </p:sp>
      </p:grpSp>
      <p:grpSp>
        <p:nvGrpSpPr>
          <p:cNvPr id="22" name="Group 22"/>
          <p:cNvGrpSpPr/>
          <p:nvPr/>
        </p:nvGrpSpPr>
        <p:grpSpPr>
          <a:xfrm>
            <a:off x="12877800" y="5346897"/>
            <a:ext cx="325897" cy="278090"/>
            <a:chOff x="0" y="0"/>
            <a:chExt cx="62793" cy="73242"/>
          </a:xfrm>
        </p:grpSpPr>
        <p:sp>
          <p:nvSpPr>
            <p:cNvPr id="23" name="Freeform 23"/>
            <p:cNvSpPr/>
            <p:nvPr/>
          </p:nvSpPr>
          <p:spPr>
            <a:xfrm>
              <a:off x="0" y="0"/>
              <a:ext cx="62793" cy="73242"/>
            </a:xfrm>
            <a:custGeom>
              <a:avLst/>
              <a:gdLst/>
              <a:ahLst/>
              <a:cxnLst/>
              <a:rect l="l" t="t" r="r" b="b"/>
              <a:pathLst>
                <a:path w="62793" h="73242">
                  <a:moveTo>
                    <a:pt x="0" y="0"/>
                  </a:moveTo>
                  <a:lnTo>
                    <a:pt x="62793" y="0"/>
                  </a:lnTo>
                  <a:lnTo>
                    <a:pt x="62793" y="73242"/>
                  </a:lnTo>
                  <a:lnTo>
                    <a:pt x="0" y="73242"/>
                  </a:lnTo>
                  <a:close/>
                </a:path>
              </a:pathLst>
            </a:custGeom>
            <a:solidFill>
              <a:srgbClr val="FFD300"/>
            </a:solidFill>
          </p:spPr>
        </p:sp>
        <p:sp>
          <p:nvSpPr>
            <p:cNvPr id="24" name="TextBox 24"/>
            <p:cNvSpPr txBox="1"/>
            <p:nvPr/>
          </p:nvSpPr>
          <p:spPr>
            <a:xfrm>
              <a:off x="0" y="-19050"/>
              <a:ext cx="62793" cy="922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387"/>
                </a:lnSpc>
              </a:pPr>
              <a:r>
                <a:rPr lang="en-US" sz="990" b="1" i="1">
                  <a:solidFill>
                    <a:srgbClr val="000000"/>
                  </a:solidFill>
                  <a:latin typeface="Open Sans Bold Italics"/>
                  <a:ea typeface="Open Sans Bold Italics"/>
                  <a:cs typeface="Open Sans Bold Italics"/>
                  <a:sym typeface="Open Sans Bold Italics"/>
                </a:rPr>
                <a:t>02</a:t>
              </a:r>
            </a:p>
          </p:txBody>
        </p:sp>
      </p:grpSp>
      <p:grpSp>
        <p:nvGrpSpPr>
          <p:cNvPr id="25" name="Group 25"/>
          <p:cNvGrpSpPr/>
          <p:nvPr/>
        </p:nvGrpSpPr>
        <p:grpSpPr>
          <a:xfrm>
            <a:off x="12877800" y="5729761"/>
            <a:ext cx="325897" cy="278090"/>
            <a:chOff x="0" y="0"/>
            <a:chExt cx="62793" cy="73242"/>
          </a:xfrm>
        </p:grpSpPr>
        <p:sp>
          <p:nvSpPr>
            <p:cNvPr id="26" name="Freeform 26"/>
            <p:cNvSpPr/>
            <p:nvPr/>
          </p:nvSpPr>
          <p:spPr>
            <a:xfrm>
              <a:off x="0" y="0"/>
              <a:ext cx="62793" cy="73242"/>
            </a:xfrm>
            <a:custGeom>
              <a:avLst/>
              <a:gdLst/>
              <a:ahLst/>
              <a:cxnLst/>
              <a:rect l="l" t="t" r="r" b="b"/>
              <a:pathLst>
                <a:path w="62793" h="73242">
                  <a:moveTo>
                    <a:pt x="0" y="0"/>
                  </a:moveTo>
                  <a:lnTo>
                    <a:pt x="62793" y="0"/>
                  </a:lnTo>
                  <a:lnTo>
                    <a:pt x="62793" y="73242"/>
                  </a:lnTo>
                  <a:lnTo>
                    <a:pt x="0" y="73242"/>
                  </a:lnTo>
                  <a:close/>
                </a:path>
              </a:pathLst>
            </a:custGeom>
            <a:solidFill>
              <a:srgbClr val="FFD300"/>
            </a:solidFill>
          </p:spPr>
        </p:sp>
        <p:sp>
          <p:nvSpPr>
            <p:cNvPr id="27" name="TextBox 27"/>
            <p:cNvSpPr txBox="1"/>
            <p:nvPr/>
          </p:nvSpPr>
          <p:spPr>
            <a:xfrm>
              <a:off x="0" y="-19050"/>
              <a:ext cx="62793" cy="922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387"/>
                </a:lnSpc>
              </a:pPr>
              <a:r>
                <a:rPr lang="en-US" sz="990" b="1" i="1">
                  <a:solidFill>
                    <a:srgbClr val="000000"/>
                  </a:solidFill>
                  <a:latin typeface="Open Sans Bold Italics"/>
                  <a:ea typeface="Open Sans Bold Italics"/>
                  <a:cs typeface="Open Sans Bold Italics"/>
                  <a:sym typeface="Open Sans Bold Italics"/>
                </a:rPr>
                <a:t>02</a:t>
              </a:r>
            </a:p>
          </p:txBody>
        </p:sp>
      </p:grpSp>
      <p:grpSp>
        <p:nvGrpSpPr>
          <p:cNvPr id="28" name="Group 28"/>
          <p:cNvGrpSpPr/>
          <p:nvPr/>
        </p:nvGrpSpPr>
        <p:grpSpPr>
          <a:xfrm>
            <a:off x="7610477" y="4233544"/>
            <a:ext cx="335942" cy="278090"/>
            <a:chOff x="0" y="0"/>
            <a:chExt cx="62793" cy="73242"/>
          </a:xfrm>
        </p:grpSpPr>
        <p:sp>
          <p:nvSpPr>
            <p:cNvPr id="29" name="Freeform 29"/>
            <p:cNvSpPr/>
            <p:nvPr/>
          </p:nvSpPr>
          <p:spPr>
            <a:xfrm>
              <a:off x="0" y="0"/>
              <a:ext cx="62793" cy="73242"/>
            </a:xfrm>
            <a:custGeom>
              <a:avLst/>
              <a:gdLst/>
              <a:ahLst/>
              <a:cxnLst/>
              <a:rect l="l" t="t" r="r" b="b"/>
              <a:pathLst>
                <a:path w="62793" h="73242">
                  <a:moveTo>
                    <a:pt x="0" y="0"/>
                  </a:moveTo>
                  <a:lnTo>
                    <a:pt x="62793" y="0"/>
                  </a:lnTo>
                  <a:lnTo>
                    <a:pt x="62793" y="73242"/>
                  </a:lnTo>
                  <a:lnTo>
                    <a:pt x="0" y="73242"/>
                  </a:lnTo>
                  <a:close/>
                </a:path>
              </a:pathLst>
            </a:custGeom>
            <a:solidFill>
              <a:srgbClr val="FFD300"/>
            </a:solidFill>
          </p:spPr>
        </p:sp>
        <p:sp>
          <p:nvSpPr>
            <p:cNvPr id="30" name="TextBox 30"/>
            <p:cNvSpPr txBox="1"/>
            <p:nvPr/>
          </p:nvSpPr>
          <p:spPr>
            <a:xfrm>
              <a:off x="0" y="-19050"/>
              <a:ext cx="62793" cy="922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387"/>
                </a:lnSpc>
              </a:pPr>
              <a:r>
                <a:rPr lang="en-US" sz="990" b="1" i="1">
                  <a:solidFill>
                    <a:srgbClr val="000000"/>
                  </a:solidFill>
                  <a:latin typeface="Open Sans Bold Italics"/>
                  <a:ea typeface="Open Sans Bold Italics"/>
                  <a:cs typeface="Open Sans Bold Italics"/>
                  <a:sym typeface="Open Sans Bold Italics"/>
                </a:rPr>
                <a:t>01</a:t>
              </a:r>
            </a:p>
          </p:txBody>
        </p:sp>
      </p:grpSp>
      <p:grpSp>
        <p:nvGrpSpPr>
          <p:cNvPr id="31" name="Group 31"/>
          <p:cNvGrpSpPr/>
          <p:nvPr/>
        </p:nvGrpSpPr>
        <p:grpSpPr>
          <a:xfrm>
            <a:off x="7620001" y="4616409"/>
            <a:ext cx="326418" cy="278090"/>
            <a:chOff x="0" y="0"/>
            <a:chExt cx="62793" cy="73242"/>
          </a:xfrm>
        </p:grpSpPr>
        <p:sp>
          <p:nvSpPr>
            <p:cNvPr id="32" name="Freeform 32"/>
            <p:cNvSpPr/>
            <p:nvPr/>
          </p:nvSpPr>
          <p:spPr>
            <a:xfrm>
              <a:off x="0" y="0"/>
              <a:ext cx="62793" cy="73242"/>
            </a:xfrm>
            <a:custGeom>
              <a:avLst/>
              <a:gdLst/>
              <a:ahLst/>
              <a:cxnLst/>
              <a:rect l="l" t="t" r="r" b="b"/>
              <a:pathLst>
                <a:path w="62793" h="73242">
                  <a:moveTo>
                    <a:pt x="0" y="0"/>
                  </a:moveTo>
                  <a:lnTo>
                    <a:pt x="62793" y="0"/>
                  </a:lnTo>
                  <a:lnTo>
                    <a:pt x="62793" y="73242"/>
                  </a:lnTo>
                  <a:lnTo>
                    <a:pt x="0" y="73242"/>
                  </a:lnTo>
                  <a:close/>
                </a:path>
              </a:pathLst>
            </a:custGeom>
            <a:solidFill>
              <a:srgbClr val="FFD300"/>
            </a:solidFill>
          </p:spPr>
        </p:sp>
        <p:sp>
          <p:nvSpPr>
            <p:cNvPr id="33" name="TextBox 33"/>
            <p:cNvSpPr txBox="1"/>
            <p:nvPr/>
          </p:nvSpPr>
          <p:spPr>
            <a:xfrm>
              <a:off x="0" y="-19050"/>
              <a:ext cx="62793" cy="922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387"/>
                </a:lnSpc>
              </a:pPr>
              <a:r>
                <a:rPr lang="en-US" sz="990" b="1" i="1">
                  <a:solidFill>
                    <a:srgbClr val="000000"/>
                  </a:solidFill>
                  <a:latin typeface="Open Sans Bold Italics"/>
                  <a:ea typeface="Open Sans Bold Italics"/>
                  <a:cs typeface="Open Sans Bold Italics"/>
                  <a:sym typeface="Open Sans Bold Italics"/>
                </a:rPr>
                <a:t>01</a:t>
              </a:r>
            </a:p>
          </p:txBody>
        </p:sp>
      </p:grpSp>
      <p:grpSp>
        <p:nvGrpSpPr>
          <p:cNvPr id="34" name="Group 34"/>
          <p:cNvGrpSpPr/>
          <p:nvPr/>
        </p:nvGrpSpPr>
        <p:grpSpPr>
          <a:xfrm>
            <a:off x="7620000" y="4992815"/>
            <a:ext cx="335943" cy="278090"/>
            <a:chOff x="0" y="0"/>
            <a:chExt cx="62793" cy="73242"/>
          </a:xfrm>
        </p:grpSpPr>
        <p:sp>
          <p:nvSpPr>
            <p:cNvPr id="35" name="Freeform 35"/>
            <p:cNvSpPr/>
            <p:nvPr/>
          </p:nvSpPr>
          <p:spPr>
            <a:xfrm>
              <a:off x="0" y="0"/>
              <a:ext cx="62793" cy="73242"/>
            </a:xfrm>
            <a:custGeom>
              <a:avLst/>
              <a:gdLst/>
              <a:ahLst/>
              <a:cxnLst/>
              <a:rect l="l" t="t" r="r" b="b"/>
              <a:pathLst>
                <a:path w="62793" h="73242">
                  <a:moveTo>
                    <a:pt x="0" y="0"/>
                  </a:moveTo>
                  <a:lnTo>
                    <a:pt x="62793" y="0"/>
                  </a:lnTo>
                  <a:lnTo>
                    <a:pt x="62793" y="73242"/>
                  </a:lnTo>
                  <a:lnTo>
                    <a:pt x="0" y="73242"/>
                  </a:lnTo>
                  <a:close/>
                </a:path>
              </a:pathLst>
            </a:custGeom>
            <a:solidFill>
              <a:srgbClr val="FFD300"/>
            </a:solidFill>
          </p:spPr>
        </p:sp>
        <p:sp>
          <p:nvSpPr>
            <p:cNvPr id="36" name="TextBox 36"/>
            <p:cNvSpPr txBox="1"/>
            <p:nvPr/>
          </p:nvSpPr>
          <p:spPr>
            <a:xfrm>
              <a:off x="0" y="-19050"/>
              <a:ext cx="62793" cy="922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387"/>
                </a:lnSpc>
              </a:pPr>
              <a:r>
                <a:rPr lang="en-US" sz="990" b="1" i="1">
                  <a:solidFill>
                    <a:srgbClr val="000000"/>
                  </a:solidFill>
                  <a:latin typeface="Open Sans Bold Italics"/>
                  <a:ea typeface="Open Sans Bold Italics"/>
                  <a:cs typeface="Open Sans Bold Italics"/>
                  <a:sym typeface="Open Sans Bold Italics"/>
                </a:rPr>
                <a:t>01</a:t>
              </a:r>
            </a:p>
          </p:txBody>
        </p:sp>
      </p:grpSp>
      <p:grpSp>
        <p:nvGrpSpPr>
          <p:cNvPr id="37" name="Group 37"/>
          <p:cNvGrpSpPr/>
          <p:nvPr/>
        </p:nvGrpSpPr>
        <p:grpSpPr>
          <a:xfrm>
            <a:off x="7620000" y="5375680"/>
            <a:ext cx="335943" cy="278090"/>
            <a:chOff x="0" y="0"/>
            <a:chExt cx="62793" cy="73242"/>
          </a:xfrm>
        </p:grpSpPr>
        <p:sp>
          <p:nvSpPr>
            <p:cNvPr id="38" name="Freeform 38"/>
            <p:cNvSpPr/>
            <p:nvPr/>
          </p:nvSpPr>
          <p:spPr>
            <a:xfrm>
              <a:off x="0" y="0"/>
              <a:ext cx="62793" cy="73242"/>
            </a:xfrm>
            <a:custGeom>
              <a:avLst/>
              <a:gdLst/>
              <a:ahLst/>
              <a:cxnLst/>
              <a:rect l="l" t="t" r="r" b="b"/>
              <a:pathLst>
                <a:path w="62793" h="73242">
                  <a:moveTo>
                    <a:pt x="0" y="0"/>
                  </a:moveTo>
                  <a:lnTo>
                    <a:pt x="62793" y="0"/>
                  </a:lnTo>
                  <a:lnTo>
                    <a:pt x="62793" y="73242"/>
                  </a:lnTo>
                  <a:lnTo>
                    <a:pt x="0" y="73242"/>
                  </a:lnTo>
                  <a:close/>
                </a:path>
              </a:pathLst>
            </a:custGeom>
            <a:solidFill>
              <a:srgbClr val="FFD300"/>
            </a:solidFill>
          </p:spPr>
        </p:sp>
        <p:sp>
          <p:nvSpPr>
            <p:cNvPr id="39" name="TextBox 39"/>
            <p:cNvSpPr txBox="1"/>
            <p:nvPr/>
          </p:nvSpPr>
          <p:spPr>
            <a:xfrm>
              <a:off x="0" y="-19050"/>
              <a:ext cx="62793" cy="922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387"/>
                </a:lnSpc>
              </a:pPr>
              <a:r>
                <a:rPr lang="en-US" sz="990" b="1" i="1">
                  <a:solidFill>
                    <a:srgbClr val="000000"/>
                  </a:solidFill>
                  <a:latin typeface="Open Sans Bold Italics"/>
                  <a:ea typeface="Open Sans Bold Italics"/>
                  <a:cs typeface="Open Sans Bold Italics"/>
                  <a:sym typeface="Open Sans Bold Italics"/>
                </a:rPr>
                <a:t>01</a:t>
              </a:r>
            </a:p>
          </p:txBody>
        </p:sp>
      </p:grpSp>
      <p:grpSp>
        <p:nvGrpSpPr>
          <p:cNvPr id="40" name="Group 40"/>
          <p:cNvGrpSpPr/>
          <p:nvPr/>
        </p:nvGrpSpPr>
        <p:grpSpPr>
          <a:xfrm>
            <a:off x="7620001" y="5762248"/>
            <a:ext cx="326418" cy="278090"/>
            <a:chOff x="0" y="0"/>
            <a:chExt cx="62793" cy="73242"/>
          </a:xfrm>
        </p:grpSpPr>
        <p:sp>
          <p:nvSpPr>
            <p:cNvPr id="41" name="Freeform 41"/>
            <p:cNvSpPr/>
            <p:nvPr/>
          </p:nvSpPr>
          <p:spPr>
            <a:xfrm>
              <a:off x="0" y="0"/>
              <a:ext cx="62793" cy="73242"/>
            </a:xfrm>
            <a:custGeom>
              <a:avLst/>
              <a:gdLst/>
              <a:ahLst/>
              <a:cxnLst/>
              <a:rect l="l" t="t" r="r" b="b"/>
              <a:pathLst>
                <a:path w="62793" h="73242">
                  <a:moveTo>
                    <a:pt x="0" y="0"/>
                  </a:moveTo>
                  <a:lnTo>
                    <a:pt x="62793" y="0"/>
                  </a:lnTo>
                  <a:lnTo>
                    <a:pt x="62793" y="73242"/>
                  </a:lnTo>
                  <a:lnTo>
                    <a:pt x="0" y="73242"/>
                  </a:lnTo>
                  <a:close/>
                </a:path>
              </a:pathLst>
            </a:custGeom>
            <a:solidFill>
              <a:srgbClr val="FFD300"/>
            </a:solidFill>
          </p:spPr>
        </p:sp>
        <p:sp>
          <p:nvSpPr>
            <p:cNvPr id="42" name="TextBox 42"/>
            <p:cNvSpPr txBox="1"/>
            <p:nvPr/>
          </p:nvSpPr>
          <p:spPr>
            <a:xfrm>
              <a:off x="0" y="-19050"/>
              <a:ext cx="62793" cy="922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387"/>
                </a:lnSpc>
              </a:pPr>
              <a:r>
                <a:rPr lang="en-US" sz="990" b="1" i="1">
                  <a:solidFill>
                    <a:srgbClr val="000000"/>
                  </a:solidFill>
                  <a:latin typeface="Open Sans Bold Italics"/>
                  <a:ea typeface="Open Sans Bold Italics"/>
                  <a:cs typeface="Open Sans Bold Italics"/>
                  <a:sym typeface="Open Sans Bold Italics"/>
                </a:rPr>
                <a:t>01</a:t>
              </a:r>
            </a:p>
          </p:txBody>
        </p:sp>
      </p:grpSp>
      <p:grpSp>
        <p:nvGrpSpPr>
          <p:cNvPr id="43" name="Group 43"/>
          <p:cNvGrpSpPr/>
          <p:nvPr/>
        </p:nvGrpSpPr>
        <p:grpSpPr>
          <a:xfrm>
            <a:off x="7620001" y="6163987"/>
            <a:ext cx="326418" cy="278090"/>
            <a:chOff x="0" y="0"/>
            <a:chExt cx="62793" cy="73242"/>
          </a:xfrm>
        </p:grpSpPr>
        <p:sp>
          <p:nvSpPr>
            <p:cNvPr id="44" name="Freeform 44"/>
            <p:cNvSpPr/>
            <p:nvPr/>
          </p:nvSpPr>
          <p:spPr>
            <a:xfrm>
              <a:off x="0" y="0"/>
              <a:ext cx="62793" cy="73242"/>
            </a:xfrm>
            <a:custGeom>
              <a:avLst/>
              <a:gdLst/>
              <a:ahLst/>
              <a:cxnLst/>
              <a:rect l="l" t="t" r="r" b="b"/>
              <a:pathLst>
                <a:path w="62793" h="73242">
                  <a:moveTo>
                    <a:pt x="0" y="0"/>
                  </a:moveTo>
                  <a:lnTo>
                    <a:pt x="62793" y="0"/>
                  </a:lnTo>
                  <a:lnTo>
                    <a:pt x="62793" y="73242"/>
                  </a:lnTo>
                  <a:lnTo>
                    <a:pt x="0" y="73242"/>
                  </a:lnTo>
                  <a:close/>
                </a:path>
              </a:pathLst>
            </a:custGeom>
            <a:solidFill>
              <a:srgbClr val="FFD300"/>
            </a:solidFill>
          </p:spPr>
        </p:sp>
        <p:sp>
          <p:nvSpPr>
            <p:cNvPr id="45" name="TextBox 45"/>
            <p:cNvSpPr txBox="1"/>
            <p:nvPr/>
          </p:nvSpPr>
          <p:spPr>
            <a:xfrm>
              <a:off x="0" y="-19050"/>
              <a:ext cx="62793" cy="922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387"/>
                </a:lnSpc>
              </a:pPr>
              <a:r>
                <a:rPr lang="en-US" sz="990" b="1" i="1">
                  <a:solidFill>
                    <a:srgbClr val="000000"/>
                  </a:solidFill>
                  <a:latin typeface="Open Sans Bold Italics"/>
                  <a:ea typeface="Open Sans Bold Italics"/>
                  <a:cs typeface="Open Sans Bold Italics"/>
                  <a:sym typeface="Open Sans Bold Italics"/>
                </a:rPr>
                <a:t>01</a:t>
              </a:r>
            </a:p>
          </p:txBody>
        </p:sp>
      </p:grpSp>
      <p:grpSp>
        <p:nvGrpSpPr>
          <p:cNvPr id="46" name="Group 46"/>
          <p:cNvGrpSpPr/>
          <p:nvPr/>
        </p:nvGrpSpPr>
        <p:grpSpPr>
          <a:xfrm>
            <a:off x="7620001" y="6537327"/>
            <a:ext cx="326418" cy="278090"/>
            <a:chOff x="0" y="0"/>
            <a:chExt cx="62793" cy="73242"/>
          </a:xfrm>
        </p:grpSpPr>
        <p:sp>
          <p:nvSpPr>
            <p:cNvPr id="47" name="Freeform 47"/>
            <p:cNvSpPr/>
            <p:nvPr/>
          </p:nvSpPr>
          <p:spPr>
            <a:xfrm>
              <a:off x="0" y="0"/>
              <a:ext cx="62793" cy="73242"/>
            </a:xfrm>
            <a:custGeom>
              <a:avLst/>
              <a:gdLst/>
              <a:ahLst/>
              <a:cxnLst/>
              <a:rect l="l" t="t" r="r" b="b"/>
              <a:pathLst>
                <a:path w="62793" h="73242">
                  <a:moveTo>
                    <a:pt x="0" y="0"/>
                  </a:moveTo>
                  <a:lnTo>
                    <a:pt x="62793" y="0"/>
                  </a:lnTo>
                  <a:lnTo>
                    <a:pt x="62793" y="73242"/>
                  </a:lnTo>
                  <a:lnTo>
                    <a:pt x="0" y="73242"/>
                  </a:lnTo>
                  <a:close/>
                </a:path>
              </a:pathLst>
            </a:custGeom>
            <a:solidFill>
              <a:srgbClr val="FFD300"/>
            </a:solidFill>
          </p:spPr>
        </p:sp>
        <p:sp>
          <p:nvSpPr>
            <p:cNvPr id="48" name="TextBox 48"/>
            <p:cNvSpPr txBox="1"/>
            <p:nvPr/>
          </p:nvSpPr>
          <p:spPr>
            <a:xfrm>
              <a:off x="0" y="-19050"/>
              <a:ext cx="62793" cy="922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387"/>
                </a:lnSpc>
              </a:pPr>
              <a:r>
                <a:rPr lang="en-US" sz="990" b="1" i="1">
                  <a:solidFill>
                    <a:srgbClr val="000000"/>
                  </a:solidFill>
                  <a:latin typeface="Open Sans Bold Italics"/>
                  <a:ea typeface="Open Sans Bold Italics"/>
                  <a:cs typeface="Open Sans Bold Italics"/>
                  <a:sym typeface="Open Sans Bold Italics"/>
                </a:rPr>
                <a:t>01</a:t>
              </a:r>
            </a:p>
          </p:txBody>
        </p:sp>
      </p:grpSp>
      <p:grpSp>
        <p:nvGrpSpPr>
          <p:cNvPr id="49" name="Group 49"/>
          <p:cNvGrpSpPr/>
          <p:nvPr/>
        </p:nvGrpSpPr>
        <p:grpSpPr>
          <a:xfrm>
            <a:off x="2590800" y="4222033"/>
            <a:ext cx="335199" cy="278090"/>
            <a:chOff x="0" y="0"/>
            <a:chExt cx="62793" cy="73242"/>
          </a:xfrm>
        </p:grpSpPr>
        <p:sp>
          <p:nvSpPr>
            <p:cNvPr id="50" name="Freeform 50"/>
            <p:cNvSpPr/>
            <p:nvPr/>
          </p:nvSpPr>
          <p:spPr>
            <a:xfrm>
              <a:off x="0" y="0"/>
              <a:ext cx="62793" cy="73242"/>
            </a:xfrm>
            <a:custGeom>
              <a:avLst/>
              <a:gdLst/>
              <a:ahLst/>
              <a:cxnLst/>
              <a:rect l="l" t="t" r="r" b="b"/>
              <a:pathLst>
                <a:path w="62793" h="73242">
                  <a:moveTo>
                    <a:pt x="0" y="0"/>
                  </a:moveTo>
                  <a:lnTo>
                    <a:pt x="62793" y="0"/>
                  </a:lnTo>
                  <a:lnTo>
                    <a:pt x="62793" y="73242"/>
                  </a:lnTo>
                  <a:lnTo>
                    <a:pt x="0" y="73242"/>
                  </a:lnTo>
                  <a:close/>
                </a:path>
              </a:pathLst>
            </a:custGeom>
            <a:solidFill>
              <a:srgbClr val="FFD300"/>
            </a:solidFill>
          </p:spPr>
        </p:sp>
        <p:sp>
          <p:nvSpPr>
            <p:cNvPr id="51" name="TextBox 51"/>
            <p:cNvSpPr txBox="1"/>
            <p:nvPr/>
          </p:nvSpPr>
          <p:spPr>
            <a:xfrm>
              <a:off x="0" y="-19050"/>
              <a:ext cx="62793" cy="922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387"/>
                </a:lnSpc>
              </a:pPr>
              <a:r>
                <a:rPr lang="en-US" sz="990" b="1" i="1" dirty="0">
                  <a:solidFill>
                    <a:srgbClr val="000000"/>
                  </a:solidFill>
                  <a:latin typeface="Open Sans Bold Italics"/>
                  <a:ea typeface="Open Sans Bold Italics"/>
                  <a:cs typeface="Open Sans Bold Italics"/>
                  <a:sym typeface="Open Sans Bold Italics"/>
                </a:rPr>
                <a:t>01</a:t>
              </a:r>
            </a:p>
          </p:txBody>
        </p:sp>
      </p:grpSp>
      <p:grpSp>
        <p:nvGrpSpPr>
          <p:cNvPr id="52" name="Group 52"/>
          <p:cNvGrpSpPr/>
          <p:nvPr/>
        </p:nvGrpSpPr>
        <p:grpSpPr>
          <a:xfrm>
            <a:off x="2590800" y="4605994"/>
            <a:ext cx="335199" cy="278090"/>
            <a:chOff x="0" y="0"/>
            <a:chExt cx="62793" cy="73242"/>
          </a:xfrm>
        </p:grpSpPr>
        <p:sp>
          <p:nvSpPr>
            <p:cNvPr id="53" name="Freeform 53"/>
            <p:cNvSpPr/>
            <p:nvPr/>
          </p:nvSpPr>
          <p:spPr>
            <a:xfrm>
              <a:off x="0" y="0"/>
              <a:ext cx="62793" cy="73242"/>
            </a:xfrm>
            <a:custGeom>
              <a:avLst/>
              <a:gdLst/>
              <a:ahLst/>
              <a:cxnLst/>
              <a:rect l="l" t="t" r="r" b="b"/>
              <a:pathLst>
                <a:path w="62793" h="73242">
                  <a:moveTo>
                    <a:pt x="0" y="0"/>
                  </a:moveTo>
                  <a:lnTo>
                    <a:pt x="62793" y="0"/>
                  </a:lnTo>
                  <a:lnTo>
                    <a:pt x="62793" y="73242"/>
                  </a:lnTo>
                  <a:lnTo>
                    <a:pt x="0" y="73242"/>
                  </a:lnTo>
                  <a:close/>
                </a:path>
              </a:pathLst>
            </a:custGeom>
            <a:solidFill>
              <a:srgbClr val="FFD300"/>
            </a:solidFill>
          </p:spPr>
        </p:sp>
        <p:sp>
          <p:nvSpPr>
            <p:cNvPr id="54" name="TextBox 54"/>
            <p:cNvSpPr txBox="1"/>
            <p:nvPr/>
          </p:nvSpPr>
          <p:spPr>
            <a:xfrm>
              <a:off x="0" y="-19050"/>
              <a:ext cx="62793" cy="922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387"/>
                </a:lnSpc>
              </a:pPr>
              <a:r>
                <a:rPr lang="en-US" sz="990" b="1" i="1" dirty="0">
                  <a:solidFill>
                    <a:srgbClr val="000000"/>
                  </a:solidFill>
                  <a:latin typeface="Open Sans Bold Italics"/>
                  <a:ea typeface="Open Sans Bold Italics"/>
                  <a:cs typeface="Open Sans Bold Italics"/>
                  <a:sym typeface="Open Sans Bold Italics"/>
                </a:rPr>
                <a:t>02</a:t>
              </a:r>
            </a:p>
          </p:txBody>
        </p:sp>
      </p:grpSp>
      <p:grpSp>
        <p:nvGrpSpPr>
          <p:cNvPr id="55" name="Group 55"/>
          <p:cNvGrpSpPr/>
          <p:nvPr/>
        </p:nvGrpSpPr>
        <p:grpSpPr>
          <a:xfrm>
            <a:off x="2590800" y="4998383"/>
            <a:ext cx="335199" cy="278090"/>
            <a:chOff x="0" y="0"/>
            <a:chExt cx="62793" cy="73242"/>
          </a:xfrm>
        </p:grpSpPr>
        <p:sp>
          <p:nvSpPr>
            <p:cNvPr id="56" name="Freeform 56"/>
            <p:cNvSpPr/>
            <p:nvPr/>
          </p:nvSpPr>
          <p:spPr>
            <a:xfrm>
              <a:off x="0" y="0"/>
              <a:ext cx="62793" cy="73242"/>
            </a:xfrm>
            <a:custGeom>
              <a:avLst/>
              <a:gdLst/>
              <a:ahLst/>
              <a:cxnLst/>
              <a:rect l="l" t="t" r="r" b="b"/>
              <a:pathLst>
                <a:path w="62793" h="73242">
                  <a:moveTo>
                    <a:pt x="0" y="0"/>
                  </a:moveTo>
                  <a:lnTo>
                    <a:pt x="62793" y="0"/>
                  </a:lnTo>
                  <a:lnTo>
                    <a:pt x="62793" y="73242"/>
                  </a:lnTo>
                  <a:lnTo>
                    <a:pt x="0" y="73242"/>
                  </a:lnTo>
                  <a:close/>
                </a:path>
              </a:pathLst>
            </a:custGeom>
            <a:solidFill>
              <a:srgbClr val="FFD300"/>
            </a:solidFill>
          </p:spPr>
        </p:sp>
        <p:sp>
          <p:nvSpPr>
            <p:cNvPr id="57" name="TextBox 57"/>
            <p:cNvSpPr txBox="1"/>
            <p:nvPr/>
          </p:nvSpPr>
          <p:spPr>
            <a:xfrm>
              <a:off x="0" y="-19050"/>
              <a:ext cx="62793" cy="922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387"/>
                </a:lnSpc>
              </a:pPr>
              <a:r>
                <a:rPr lang="en-US" sz="990" b="1" i="1">
                  <a:solidFill>
                    <a:srgbClr val="000000"/>
                  </a:solidFill>
                  <a:latin typeface="Open Sans Bold Italics"/>
                  <a:ea typeface="Open Sans Bold Italics"/>
                  <a:cs typeface="Open Sans Bold Italics"/>
                  <a:sym typeface="Open Sans Bold Italics"/>
                </a:rPr>
                <a:t>01</a:t>
              </a:r>
            </a:p>
          </p:txBody>
        </p:sp>
      </p:grpSp>
      <p:grpSp>
        <p:nvGrpSpPr>
          <p:cNvPr id="58" name="Group 58"/>
          <p:cNvGrpSpPr/>
          <p:nvPr/>
        </p:nvGrpSpPr>
        <p:grpSpPr>
          <a:xfrm>
            <a:off x="2590800" y="5381248"/>
            <a:ext cx="335199" cy="278090"/>
            <a:chOff x="0" y="0"/>
            <a:chExt cx="62793" cy="73242"/>
          </a:xfrm>
        </p:grpSpPr>
        <p:sp>
          <p:nvSpPr>
            <p:cNvPr id="59" name="Freeform 59"/>
            <p:cNvSpPr/>
            <p:nvPr/>
          </p:nvSpPr>
          <p:spPr>
            <a:xfrm>
              <a:off x="0" y="0"/>
              <a:ext cx="62793" cy="73242"/>
            </a:xfrm>
            <a:custGeom>
              <a:avLst/>
              <a:gdLst/>
              <a:ahLst/>
              <a:cxnLst/>
              <a:rect l="l" t="t" r="r" b="b"/>
              <a:pathLst>
                <a:path w="62793" h="73242">
                  <a:moveTo>
                    <a:pt x="0" y="0"/>
                  </a:moveTo>
                  <a:lnTo>
                    <a:pt x="62793" y="0"/>
                  </a:lnTo>
                  <a:lnTo>
                    <a:pt x="62793" y="73242"/>
                  </a:lnTo>
                  <a:lnTo>
                    <a:pt x="0" y="73242"/>
                  </a:lnTo>
                  <a:close/>
                </a:path>
              </a:pathLst>
            </a:custGeom>
            <a:solidFill>
              <a:srgbClr val="FFD300"/>
            </a:solidFill>
          </p:spPr>
        </p:sp>
        <p:sp>
          <p:nvSpPr>
            <p:cNvPr id="60" name="TextBox 60"/>
            <p:cNvSpPr txBox="1"/>
            <p:nvPr/>
          </p:nvSpPr>
          <p:spPr>
            <a:xfrm>
              <a:off x="0" y="-19050"/>
              <a:ext cx="62793" cy="922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387"/>
                </a:lnSpc>
              </a:pPr>
              <a:r>
                <a:rPr lang="en-US" sz="990" b="1" i="1" dirty="0">
                  <a:solidFill>
                    <a:srgbClr val="000000"/>
                  </a:solidFill>
                  <a:latin typeface="Open Sans Bold Italics"/>
                  <a:ea typeface="Open Sans Bold Italics"/>
                  <a:cs typeface="Open Sans Bold Italics"/>
                  <a:sym typeface="Open Sans Bold Italics"/>
                </a:rPr>
                <a:t>01</a:t>
              </a:r>
            </a:p>
          </p:txBody>
        </p:sp>
      </p:grpSp>
      <p:grpSp>
        <p:nvGrpSpPr>
          <p:cNvPr id="61" name="Group 61"/>
          <p:cNvGrpSpPr/>
          <p:nvPr/>
        </p:nvGrpSpPr>
        <p:grpSpPr>
          <a:xfrm>
            <a:off x="2590800" y="5764113"/>
            <a:ext cx="335199" cy="278090"/>
            <a:chOff x="0" y="0"/>
            <a:chExt cx="62793" cy="73242"/>
          </a:xfrm>
        </p:grpSpPr>
        <p:sp>
          <p:nvSpPr>
            <p:cNvPr id="62" name="Freeform 62"/>
            <p:cNvSpPr/>
            <p:nvPr/>
          </p:nvSpPr>
          <p:spPr>
            <a:xfrm>
              <a:off x="0" y="0"/>
              <a:ext cx="62793" cy="73242"/>
            </a:xfrm>
            <a:custGeom>
              <a:avLst/>
              <a:gdLst/>
              <a:ahLst/>
              <a:cxnLst/>
              <a:rect l="l" t="t" r="r" b="b"/>
              <a:pathLst>
                <a:path w="62793" h="73242">
                  <a:moveTo>
                    <a:pt x="0" y="0"/>
                  </a:moveTo>
                  <a:lnTo>
                    <a:pt x="62793" y="0"/>
                  </a:lnTo>
                  <a:lnTo>
                    <a:pt x="62793" y="73242"/>
                  </a:lnTo>
                  <a:lnTo>
                    <a:pt x="0" y="73242"/>
                  </a:lnTo>
                  <a:close/>
                </a:path>
              </a:pathLst>
            </a:custGeom>
            <a:solidFill>
              <a:srgbClr val="FFD300"/>
            </a:solidFill>
          </p:spPr>
        </p:sp>
        <p:sp>
          <p:nvSpPr>
            <p:cNvPr id="63" name="TextBox 63"/>
            <p:cNvSpPr txBox="1"/>
            <p:nvPr/>
          </p:nvSpPr>
          <p:spPr>
            <a:xfrm>
              <a:off x="0" y="-19050"/>
              <a:ext cx="62793" cy="922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387"/>
                </a:lnSpc>
              </a:pPr>
              <a:r>
                <a:rPr lang="en-US" sz="990" b="1" i="1" dirty="0">
                  <a:solidFill>
                    <a:srgbClr val="000000"/>
                  </a:solidFill>
                  <a:latin typeface="Open Sans Bold Italics"/>
                  <a:ea typeface="Open Sans Bold Italics"/>
                  <a:cs typeface="Open Sans Bold Italics"/>
                  <a:sym typeface="Open Sans Bold Italics"/>
                </a:rPr>
                <a:t>01</a:t>
              </a:r>
            </a:p>
          </p:txBody>
        </p:sp>
      </p:grpSp>
      <p:grpSp>
        <p:nvGrpSpPr>
          <p:cNvPr id="64" name="Group 64"/>
          <p:cNvGrpSpPr/>
          <p:nvPr/>
        </p:nvGrpSpPr>
        <p:grpSpPr>
          <a:xfrm>
            <a:off x="2590800" y="6156502"/>
            <a:ext cx="335199" cy="278090"/>
            <a:chOff x="0" y="0"/>
            <a:chExt cx="62793" cy="73242"/>
          </a:xfrm>
        </p:grpSpPr>
        <p:sp>
          <p:nvSpPr>
            <p:cNvPr id="65" name="Freeform 65"/>
            <p:cNvSpPr/>
            <p:nvPr/>
          </p:nvSpPr>
          <p:spPr>
            <a:xfrm>
              <a:off x="0" y="0"/>
              <a:ext cx="62793" cy="73242"/>
            </a:xfrm>
            <a:custGeom>
              <a:avLst/>
              <a:gdLst/>
              <a:ahLst/>
              <a:cxnLst/>
              <a:rect l="l" t="t" r="r" b="b"/>
              <a:pathLst>
                <a:path w="62793" h="73242">
                  <a:moveTo>
                    <a:pt x="0" y="0"/>
                  </a:moveTo>
                  <a:lnTo>
                    <a:pt x="62793" y="0"/>
                  </a:lnTo>
                  <a:lnTo>
                    <a:pt x="62793" y="73242"/>
                  </a:lnTo>
                  <a:lnTo>
                    <a:pt x="0" y="73242"/>
                  </a:lnTo>
                  <a:close/>
                </a:path>
              </a:pathLst>
            </a:custGeom>
            <a:solidFill>
              <a:srgbClr val="FFD300"/>
            </a:solidFill>
          </p:spPr>
        </p:sp>
        <p:sp>
          <p:nvSpPr>
            <p:cNvPr id="66" name="TextBox 66"/>
            <p:cNvSpPr txBox="1"/>
            <p:nvPr/>
          </p:nvSpPr>
          <p:spPr>
            <a:xfrm>
              <a:off x="0" y="-19050"/>
              <a:ext cx="62793" cy="922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387"/>
                </a:lnSpc>
              </a:pPr>
              <a:r>
                <a:rPr lang="en-US" sz="990" b="1" i="1" dirty="0">
                  <a:solidFill>
                    <a:srgbClr val="000000"/>
                  </a:solidFill>
                  <a:latin typeface="Open Sans Bold Italics"/>
                  <a:ea typeface="Open Sans Bold Italics"/>
                  <a:cs typeface="Open Sans Bold Italics"/>
                  <a:sym typeface="Open Sans Bold Italics"/>
                </a:rPr>
                <a:t>01</a:t>
              </a:r>
            </a:p>
          </p:txBody>
        </p:sp>
      </p:grpSp>
      <p:grpSp>
        <p:nvGrpSpPr>
          <p:cNvPr id="67" name="Group 67"/>
          <p:cNvGrpSpPr/>
          <p:nvPr/>
        </p:nvGrpSpPr>
        <p:grpSpPr>
          <a:xfrm>
            <a:off x="2590800" y="6539367"/>
            <a:ext cx="335199" cy="278090"/>
            <a:chOff x="0" y="0"/>
            <a:chExt cx="62793" cy="73242"/>
          </a:xfrm>
        </p:grpSpPr>
        <p:sp>
          <p:nvSpPr>
            <p:cNvPr id="68" name="Freeform 68"/>
            <p:cNvSpPr/>
            <p:nvPr/>
          </p:nvSpPr>
          <p:spPr>
            <a:xfrm>
              <a:off x="0" y="0"/>
              <a:ext cx="62793" cy="73242"/>
            </a:xfrm>
            <a:custGeom>
              <a:avLst/>
              <a:gdLst/>
              <a:ahLst/>
              <a:cxnLst/>
              <a:rect l="l" t="t" r="r" b="b"/>
              <a:pathLst>
                <a:path w="62793" h="73242">
                  <a:moveTo>
                    <a:pt x="0" y="0"/>
                  </a:moveTo>
                  <a:lnTo>
                    <a:pt x="62793" y="0"/>
                  </a:lnTo>
                  <a:lnTo>
                    <a:pt x="62793" y="73242"/>
                  </a:lnTo>
                  <a:lnTo>
                    <a:pt x="0" y="73242"/>
                  </a:lnTo>
                  <a:close/>
                </a:path>
              </a:pathLst>
            </a:custGeom>
            <a:solidFill>
              <a:srgbClr val="FFD300"/>
            </a:solidFill>
          </p:spPr>
        </p:sp>
        <p:sp>
          <p:nvSpPr>
            <p:cNvPr id="69" name="TextBox 69"/>
            <p:cNvSpPr txBox="1"/>
            <p:nvPr/>
          </p:nvSpPr>
          <p:spPr>
            <a:xfrm>
              <a:off x="0" y="-19050"/>
              <a:ext cx="62793" cy="922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387"/>
                </a:lnSpc>
              </a:pPr>
              <a:r>
                <a:rPr lang="en-US" sz="990" b="1" i="1" dirty="0">
                  <a:solidFill>
                    <a:srgbClr val="000000"/>
                  </a:solidFill>
                  <a:latin typeface="Open Sans Bold Italics"/>
                  <a:ea typeface="Open Sans Bold Italics"/>
                  <a:cs typeface="Open Sans Bold Italics"/>
                  <a:sym typeface="Open Sans Bold Italics"/>
                </a:rPr>
                <a:t>02</a:t>
              </a:r>
            </a:p>
          </p:txBody>
        </p:sp>
      </p:grpSp>
      <p:grpSp>
        <p:nvGrpSpPr>
          <p:cNvPr id="70" name="Group 70"/>
          <p:cNvGrpSpPr/>
          <p:nvPr/>
        </p:nvGrpSpPr>
        <p:grpSpPr>
          <a:xfrm>
            <a:off x="6605400" y="2472975"/>
            <a:ext cx="5154571" cy="980717"/>
            <a:chOff x="0" y="0"/>
            <a:chExt cx="1357582" cy="258296"/>
          </a:xfrm>
        </p:grpSpPr>
        <p:sp>
          <p:nvSpPr>
            <p:cNvPr id="71" name="Freeform 71"/>
            <p:cNvSpPr/>
            <p:nvPr/>
          </p:nvSpPr>
          <p:spPr>
            <a:xfrm>
              <a:off x="0" y="0"/>
              <a:ext cx="1357582" cy="258296"/>
            </a:xfrm>
            <a:custGeom>
              <a:avLst/>
              <a:gdLst/>
              <a:ahLst/>
              <a:cxnLst/>
              <a:rect l="l" t="t" r="r" b="b"/>
              <a:pathLst>
                <a:path w="1357582" h="258296">
                  <a:moveTo>
                    <a:pt x="0" y="0"/>
                  </a:moveTo>
                  <a:lnTo>
                    <a:pt x="1357582" y="0"/>
                  </a:lnTo>
                  <a:lnTo>
                    <a:pt x="1357582" y="258296"/>
                  </a:lnTo>
                  <a:lnTo>
                    <a:pt x="0" y="258296"/>
                  </a:lnTo>
                  <a:close/>
                </a:path>
              </a:pathLst>
            </a:custGeom>
            <a:solidFill>
              <a:srgbClr val="FFD300"/>
            </a:solidFill>
          </p:spPr>
        </p:sp>
        <p:sp>
          <p:nvSpPr>
            <p:cNvPr id="72" name="TextBox 72"/>
            <p:cNvSpPr txBox="1"/>
            <p:nvPr/>
          </p:nvSpPr>
          <p:spPr>
            <a:xfrm>
              <a:off x="0" y="-38100"/>
              <a:ext cx="1357582" cy="296396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067"/>
                </a:lnSpc>
              </a:pPr>
              <a:endParaRPr/>
            </a:p>
          </p:txBody>
        </p:sp>
      </p:grpSp>
      <p:sp>
        <p:nvSpPr>
          <p:cNvPr id="73" name="TextBox 73"/>
          <p:cNvSpPr txBox="1"/>
          <p:nvPr/>
        </p:nvSpPr>
        <p:spPr>
          <a:xfrm>
            <a:off x="2925999" y="3390900"/>
            <a:ext cx="3679400" cy="458997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067"/>
              </a:lnSpc>
            </a:pPr>
            <a:r>
              <a:rPr lang="en-US" sz="2190" dirty="0" err="1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Esteira</a:t>
            </a:r>
            <a:r>
              <a:rPr lang="en-US" sz="2190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 </a:t>
            </a:r>
            <a:r>
              <a:rPr lang="en-US" sz="2190" dirty="0" err="1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Profissional</a:t>
            </a:r>
            <a:endParaRPr lang="en-US" sz="2190" dirty="0">
              <a:solidFill>
                <a:srgbClr val="000000"/>
              </a:solidFill>
              <a:latin typeface="Open Sans"/>
              <a:ea typeface="Open Sans"/>
              <a:cs typeface="Open Sans"/>
              <a:sym typeface="Open Sans"/>
            </a:endParaRPr>
          </a:p>
          <a:p>
            <a:pPr algn="l">
              <a:lnSpc>
                <a:spcPts val="3067"/>
              </a:lnSpc>
            </a:pPr>
            <a:r>
              <a:rPr lang="en-US" sz="2190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Bicicleta Spinning </a:t>
            </a:r>
            <a:r>
              <a:rPr lang="en-US" sz="2190" dirty="0" err="1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Magnética</a:t>
            </a:r>
            <a:endParaRPr lang="en-US" sz="2190" dirty="0">
              <a:solidFill>
                <a:srgbClr val="000000"/>
              </a:solidFill>
              <a:latin typeface="Open Sans"/>
              <a:ea typeface="Open Sans"/>
              <a:cs typeface="Open Sans"/>
              <a:sym typeface="Open Sans"/>
            </a:endParaRPr>
          </a:p>
          <a:p>
            <a:pPr algn="l">
              <a:lnSpc>
                <a:spcPts val="3067"/>
              </a:lnSpc>
            </a:pPr>
            <a:r>
              <a:rPr lang="en-US" sz="2190" dirty="0" err="1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Cadeira</a:t>
            </a:r>
            <a:r>
              <a:rPr lang="en-US" sz="2190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 </a:t>
            </a:r>
            <a:r>
              <a:rPr lang="en-US" sz="2190" dirty="0" err="1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Extensora</a:t>
            </a:r>
            <a:r>
              <a:rPr lang="en-US" sz="2190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 / </a:t>
            </a:r>
            <a:r>
              <a:rPr lang="en-US" sz="2190" dirty="0" err="1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Flexora</a:t>
            </a:r>
            <a:endParaRPr lang="en-US" sz="2190" dirty="0">
              <a:solidFill>
                <a:srgbClr val="000000"/>
              </a:solidFill>
              <a:latin typeface="Open Sans"/>
              <a:ea typeface="Open Sans"/>
              <a:cs typeface="Open Sans"/>
              <a:sym typeface="Open Sans"/>
            </a:endParaRPr>
          </a:p>
          <a:p>
            <a:pPr algn="l">
              <a:lnSpc>
                <a:spcPts val="3067"/>
              </a:lnSpc>
            </a:pPr>
            <a:r>
              <a:rPr lang="en-US" sz="2190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Dual Cable Crossover</a:t>
            </a:r>
          </a:p>
          <a:p>
            <a:pPr algn="l">
              <a:lnSpc>
                <a:spcPts val="3067"/>
              </a:lnSpc>
            </a:pPr>
            <a:r>
              <a:rPr lang="en-US" sz="2190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Leg Press</a:t>
            </a:r>
          </a:p>
          <a:p>
            <a:pPr algn="l">
              <a:lnSpc>
                <a:spcPts val="3067"/>
              </a:lnSpc>
            </a:pPr>
            <a:r>
              <a:rPr lang="en-US" sz="2190" dirty="0" err="1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Máquina</a:t>
            </a:r>
            <a:r>
              <a:rPr lang="en-US" sz="2190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 </a:t>
            </a:r>
            <a:r>
              <a:rPr lang="en-US" sz="2190" dirty="0" err="1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Bíceps</a:t>
            </a:r>
            <a:r>
              <a:rPr lang="en-US" sz="2190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 / </a:t>
            </a:r>
            <a:r>
              <a:rPr lang="en-US" sz="2190" dirty="0" err="1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Tríceps</a:t>
            </a:r>
            <a:endParaRPr lang="en-US" sz="2190" dirty="0">
              <a:solidFill>
                <a:srgbClr val="000000"/>
              </a:solidFill>
              <a:latin typeface="Open Sans"/>
              <a:ea typeface="Open Sans"/>
              <a:cs typeface="Open Sans"/>
              <a:sym typeface="Open Sans"/>
            </a:endParaRPr>
          </a:p>
          <a:p>
            <a:pPr algn="l">
              <a:lnSpc>
                <a:spcPts val="3067"/>
              </a:lnSpc>
            </a:pPr>
            <a:r>
              <a:rPr lang="en-US" sz="2190" dirty="0" err="1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Cadeira</a:t>
            </a:r>
            <a:r>
              <a:rPr lang="en-US" sz="2190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 </a:t>
            </a:r>
            <a:r>
              <a:rPr lang="en-US" sz="2190" dirty="0" err="1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Adutora</a:t>
            </a:r>
            <a:r>
              <a:rPr lang="en-US" sz="2190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 e </a:t>
            </a:r>
            <a:r>
              <a:rPr lang="en-US" sz="2190" dirty="0" err="1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Abdutora</a:t>
            </a:r>
            <a:endParaRPr lang="en-US" sz="2190" dirty="0">
              <a:solidFill>
                <a:srgbClr val="000000"/>
              </a:solidFill>
              <a:latin typeface="Open Sans"/>
              <a:ea typeface="Open Sans"/>
              <a:cs typeface="Open Sans"/>
              <a:sym typeface="Open Sans"/>
            </a:endParaRPr>
          </a:p>
          <a:p>
            <a:pPr algn="l">
              <a:lnSpc>
                <a:spcPts val="3067"/>
              </a:lnSpc>
            </a:pPr>
            <a:r>
              <a:rPr lang="en-US" sz="2190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Banco Supino</a:t>
            </a:r>
          </a:p>
          <a:p>
            <a:pPr algn="l">
              <a:lnSpc>
                <a:spcPts val="3067"/>
              </a:lnSpc>
            </a:pPr>
            <a:r>
              <a:rPr lang="en-US" sz="2190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Banco Horizontal </a:t>
            </a:r>
            <a:r>
              <a:rPr lang="en-US" sz="2190" dirty="0" err="1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Regulável</a:t>
            </a:r>
            <a:endParaRPr lang="en-US" sz="2190" dirty="0">
              <a:solidFill>
                <a:srgbClr val="000000"/>
              </a:solidFill>
              <a:latin typeface="Open Sans"/>
              <a:ea typeface="Open Sans"/>
              <a:cs typeface="Open Sans"/>
              <a:sym typeface="Open Sans"/>
            </a:endParaRPr>
          </a:p>
          <a:p>
            <a:pPr algn="l">
              <a:lnSpc>
                <a:spcPts val="3067"/>
              </a:lnSpc>
            </a:pPr>
            <a:r>
              <a:rPr lang="en-US" sz="2190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110kg Halteres 1-10kg</a:t>
            </a:r>
          </a:p>
          <a:p>
            <a:pPr algn="l">
              <a:lnSpc>
                <a:spcPts val="3067"/>
              </a:lnSpc>
            </a:pPr>
            <a:r>
              <a:rPr lang="en-US" sz="2190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100kg </a:t>
            </a:r>
            <a:r>
              <a:rPr lang="en-US" sz="2190" dirty="0" err="1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Anilhas</a:t>
            </a:r>
            <a:r>
              <a:rPr lang="en-US" sz="2190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 (1,30/kg)</a:t>
            </a:r>
          </a:p>
          <a:p>
            <a:pPr algn="l">
              <a:lnSpc>
                <a:spcPts val="3067"/>
              </a:lnSpc>
            </a:pPr>
            <a:r>
              <a:rPr lang="en-US" sz="2190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1125kg Halteres 12,5 - 50kg</a:t>
            </a:r>
          </a:p>
        </p:txBody>
      </p:sp>
      <p:sp>
        <p:nvSpPr>
          <p:cNvPr id="74" name="TextBox 74"/>
          <p:cNvSpPr txBox="1"/>
          <p:nvPr/>
        </p:nvSpPr>
        <p:spPr>
          <a:xfrm>
            <a:off x="13213222" y="4119523"/>
            <a:ext cx="2483978" cy="1960858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3067"/>
              </a:lnSpc>
            </a:pPr>
            <a:r>
              <a:rPr lang="en-US" sz="2190" dirty="0" err="1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Puxador</a:t>
            </a:r>
            <a:r>
              <a:rPr lang="en-US" sz="2190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 </a:t>
            </a:r>
            <a:r>
              <a:rPr lang="en-US" sz="2190" dirty="0" err="1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Tríceps</a:t>
            </a:r>
            <a:endParaRPr lang="en-US" sz="2190" dirty="0">
              <a:solidFill>
                <a:srgbClr val="000000"/>
              </a:solidFill>
              <a:latin typeface="Open Sans"/>
              <a:ea typeface="Open Sans"/>
              <a:cs typeface="Open Sans"/>
              <a:sym typeface="Open Sans"/>
            </a:endParaRPr>
          </a:p>
          <a:p>
            <a:pPr algn="l">
              <a:lnSpc>
                <a:spcPts val="3067"/>
              </a:lnSpc>
            </a:pPr>
            <a:r>
              <a:rPr lang="en-US" sz="2190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Barra </a:t>
            </a:r>
            <a:r>
              <a:rPr lang="en-US" sz="2190" dirty="0" err="1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Remada</a:t>
            </a:r>
            <a:endParaRPr lang="en-US" sz="2190" dirty="0">
              <a:solidFill>
                <a:srgbClr val="000000"/>
              </a:solidFill>
              <a:latin typeface="Open Sans"/>
              <a:ea typeface="Open Sans"/>
              <a:cs typeface="Open Sans"/>
              <a:sym typeface="Open Sans"/>
            </a:endParaRPr>
          </a:p>
          <a:p>
            <a:pPr algn="l">
              <a:lnSpc>
                <a:spcPts val="3067"/>
              </a:lnSpc>
            </a:pPr>
            <a:r>
              <a:rPr lang="en-US" sz="2190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Step </a:t>
            </a:r>
            <a:r>
              <a:rPr lang="en-US" sz="2190" dirty="0" err="1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Ajustável</a:t>
            </a:r>
            <a:endParaRPr lang="en-US" sz="2190" dirty="0">
              <a:solidFill>
                <a:srgbClr val="000000"/>
              </a:solidFill>
              <a:latin typeface="Open Sans"/>
              <a:ea typeface="Open Sans"/>
              <a:cs typeface="Open Sans"/>
              <a:sym typeface="Open Sans"/>
            </a:endParaRPr>
          </a:p>
          <a:p>
            <a:pPr algn="l">
              <a:lnSpc>
                <a:spcPts val="3067"/>
              </a:lnSpc>
            </a:pPr>
            <a:r>
              <a:rPr lang="en-US" sz="2190" dirty="0" err="1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Colchonetes</a:t>
            </a:r>
            <a:endParaRPr lang="en-US" sz="2190" dirty="0">
              <a:solidFill>
                <a:srgbClr val="000000"/>
              </a:solidFill>
              <a:latin typeface="Open Sans"/>
              <a:ea typeface="Open Sans"/>
              <a:cs typeface="Open Sans"/>
              <a:sym typeface="Open Sans"/>
            </a:endParaRPr>
          </a:p>
          <a:p>
            <a:pPr algn="l">
              <a:lnSpc>
                <a:spcPts val="3067"/>
              </a:lnSpc>
            </a:pPr>
            <a:r>
              <a:rPr lang="en-US" sz="2190" dirty="0" err="1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Tornozeleira</a:t>
            </a:r>
            <a:r>
              <a:rPr lang="en-US" sz="2190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 Polia</a:t>
            </a:r>
          </a:p>
        </p:txBody>
      </p:sp>
      <p:sp>
        <p:nvSpPr>
          <p:cNvPr id="75" name="TextBox 75"/>
          <p:cNvSpPr txBox="1"/>
          <p:nvPr/>
        </p:nvSpPr>
        <p:spPr>
          <a:xfrm>
            <a:off x="7048872" y="2419315"/>
            <a:ext cx="4267627" cy="90499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7934"/>
              </a:lnSpc>
            </a:pPr>
            <a:r>
              <a:rPr lang="en-US" sz="5000" b="1" i="1" dirty="0">
                <a:solidFill>
                  <a:srgbClr val="0000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COMBO DUO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  <p:grpSp>
        <p:nvGrpSpPr>
          <p:cNvPr id="3" name="Group 3"/>
          <p:cNvGrpSpPr/>
          <p:nvPr/>
        </p:nvGrpSpPr>
        <p:grpSpPr>
          <a:xfrm>
            <a:off x="1331295" y="4142693"/>
            <a:ext cx="7484725" cy="1432097"/>
            <a:chOff x="0" y="0"/>
            <a:chExt cx="1971286" cy="377178"/>
          </a:xfrm>
        </p:grpSpPr>
        <p:sp>
          <p:nvSpPr>
            <p:cNvPr id="4" name="Freeform 4"/>
            <p:cNvSpPr/>
            <p:nvPr/>
          </p:nvSpPr>
          <p:spPr>
            <a:xfrm>
              <a:off x="0" y="0"/>
              <a:ext cx="1971286" cy="377178"/>
            </a:xfrm>
            <a:custGeom>
              <a:avLst/>
              <a:gdLst/>
              <a:ahLst/>
              <a:cxnLst/>
              <a:rect l="l" t="t" r="r" b="b"/>
              <a:pathLst>
                <a:path w="1971286" h="377178">
                  <a:moveTo>
                    <a:pt x="0" y="0"/>
                  </a:moveTo>
                  <a:lnTo>
                    <a:pt x="1971286" y="0"/>
                  </a:lnTo>
                  <a:lnTo>
                    <a:pt x="1971286" y="377178"/>
                  </a:lnTo>
                  <a:lnTo>
                    <a:pt x="0" y="377178"/>
                  </a:ln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id="5" name="TextBox 5"/>
            <p:cNvSpPr txBox="1"/>
            <p:nvPr/>
          </p:nvSpPr>
          <p:spPr>
            <a:xfrm>
              <a:off x="0" y="-38100"/>
              <a:ext cx="1971286" cy="415278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067"/>
                </a:lnSpc>
              </a:pPr>
              <a:endParaRPr/>
            </a:p>
          </p:txBody>
        </p:sp>
      </p:grpSp>
      <p:grpSp>
        <p:nvGrpSpPr>
          <p:cNvPr id="6" name="Group 6"/>
          <p:cNvGrpSpPr/>
          <p:nvPr/>
        </p:nvGrpSpPr>
        <p:grpSpPr>
          <a:xfrm>
            <a:off x="1331295" y="4142693"/>
            <a:ext cx="3778620" cy="1432097"/>
            <a:chOff x="0" y="0"/>
            <a:chExt cx="995192" cy="377178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995192" cy="377178"/>
            </a:xfrm>
            <a:custGeom>
              <a:avLst/>
              <a:gdLst/>
              <a:ahLst/>
              <a:cxnLst/>
              <a:rect l="l" t="t" r="r" b="b"/>
              <a:pathLst>
                <a:path w="995192" h="377178">
                  <a:moveTo>
                    <a:pt x="0" y="0"/>
                  </a:moveTo>
                  <a:lnTo>
                    <a:pt x="995192" y="0"/>
                  </a:lnTo>
                  <a:lnTo>
                    <a:pt x="995192" y="377178"/>
                  </a:lnTo>
                  <a:lnTo>
                    <a:pt x="0" y="377178"/>
                  </a:lnTo>
                  <a:close/>
                </a:path>
              </a:pathLst>
            </a:custGeom>
            <a:solidFill>
              <a:srgbClr val="FFD300"/>
            </a:solidFill>
          </p:spPr>
        </p:sp>
        <p:sp>
          <p:nvSpPr>
            <p:cNvPr id="8" name="TextBox 8"/>
            <p:cNvSpPr txBox="1"/>
            <p:nvPr/>
          </p:nvSpPr>
          <p:spPr>
            <a:xfrm>
              <a:off x="0" y="-38100"/>
              <a:ext cx="995192" cy="415278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067"/>
                </a:lnSpc>
              </a:pPr>
              <a:endParaRPr/>
            </a:p>
          </p:txBody>
        </p:sp>
      </p:grpSp>
      <p:grpSp>
        <p:nvGrpSpPr>
          <p:cNvPr id="9" name="Group 9"/>
          <p:cNvGrpSpPr/>
          <p:nvPr/>
        </p:nvGrpSpPr>
        <p:grpSpPr>
          <a:xfrm>
            <a:off x="9677048" y="7810500"/>
            <a:ext cx="6611142" cy="685611"/>
            <a:chOff x="0" y="0"/>
            <a:chExt cx="1741206" cy="180572"/>
          </a:xfrm>
        </p:grpSpPr>
        <p:sp>
          <p:nvSpPr>
            <p:cNvPr id="10" name="Freeform 10"/>
            <p:cNvSpPr/>
            <p:nvPr/>
          </p:nvSpPr>
          <p:spPr>
            <a:xfrm>
              <a:off x="0" y="0"/>
              <a:ext cx="1741206" cy="180572"/>
            </a:xfrm>
            <a:custGeom>
              <a:avLst/>
              <a:gdLst/>
              <a:ahLst/>
              <a:cxnLst/>
              <a:rect l="l" t="t" r="r" b="b"/>
              <a:pathLst>
                <a:path w="1741206" h="180572">
                  <a:moveTo>
                    <a:pt x="0" y="0"/>
                  </a:moveTo>
                  <a:lnTo>
                    <a:pt x="1741206" y="0"/>
                  </a:lnTo>
                  <a:lnTo>
                    <a:pt x="1741206" y="180572"/>
                  </a:lnTo>
                  <a:lnTo>
                    <a:pt x="0" y="180572"/>
                  </a:lnTo>
                  <a:close/>
                </a:path>
              </a:pathLst>
            </a:custGeom>
            <a:solidFill>
              <a:srgbClr val="FFD300"/>
            </a:solidFill>
          </p:spPr>
        </p:sp>
        <p:sp>
          <p:nvSpPr>
            <p:cNvPr id="11" name="TextBox 11"/>
            <p:cNvSpPr txBox="1"/>
            <p:nvPr/>
          </p:nvSpPr>
          <p:spPr>
            <a:xfrm>
              <a:off x="0" y="-38100"/>
              <a:ext cx="1741206" cy="21867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067"/>
                </a:lnSpc>
              </a:pPr>
              <a:endParaRPr/>
            </a:p>
          </p:txBody>
        </p:sp>
      </p:grpSp>
      <p:sp>
        <p:nvSpPr>
          <p:cNvPr id="12" name="TextBox 12"/>
          <p:cNvSpPr txBox="1"/>
          <p:nvPr/>
        </p:nvSpPr>
        <p:spPr>
          <a:xfrm>
            <a:off x="1600193" y="4260684"/>
            <a:ext cx="3346007" cy="106622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298"/>
              </a:lnSpc>
            </a:pPr>
            <a:r>
              <a:rPr lang="en-US" sz="3070" b="1">
                <a:solidFill>
                  <a:srgbClr val="000000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Mensalidade </a:t>
            </a:r>
          </a:p>
          <a:p>
            <a:pPr algn="l">
              <a:lnSpc>
                <a:spcPts val="4298"/>
              </a:lnSpc>
            </a:pPr>
            <a:r>
              <a:rPr lang="en-US" sz="3070" b="1">
                <a:solidFill>
                  <a:srgbClr val="000000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por apartamento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5578684" y="2993443"/>
            <a:ext cx="3817902" cy="50597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438"/>
              </a:lnSpc>
            </a:pPr>
            <a:r>
              <a:rPr lang="en-US" sz="2500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[NOME]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5214690" y="4254328"/>
            <a:ext cx="3787592" cy="1035807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8533"/>
              </a:lnSpc>
            </a:pPr>
            <a:r>
              <a:rPr lang="en-US" sz="6095" b="1" spc="-176" dirty="0">
                <a:solidFill>
                  <a:srgbClr val="000000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[VALOR]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9863310" y="2085223"/>
            <a:ext cx="7395990" cy="751757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067"/>
              </a:lnSpc>
              <a:spcBef>
                <a:spcPct val="0"/>
              </a:spcBef>
            </a:pPr>
            <a:r>
              <a:rPr lang="en-US" sz="2190" dirty="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Total de </a:t>
            </a:r>
            <a:r>
              <a:rPr lang="en-US" sz="2190" dirty="0" err="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unidades</a:t>
            </a:r>
            <a:r>
              <a:rPr lang="en-US" sz="2190" dirty="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 </a:t>
            </a:r>
            <a:r>
              <a:rPr lang="en-US" sz="2190" dirty="0" err="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informadas</a:t>
            </a:r>
            <a:r>
              <a:rPr lang="en-US" sz="2190" dirty="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: </a:t>
            </a:r>
            <a:r>
              <a:rPr lang="en-US" sz="2190" b="1" i="1" dirty="0">
                <a:solidFill>
                  <a:srgbClr val="FFD300"/>
                </a:solidFill>
                <a:latin typeface="Open Sans"/>
                <a:ea typeface="Open Sans"/>
                <a:cs typeface="Open Sans"/>
                <a:sym typeface="Open Sans"/>
              </a:rPr>
              <a:t>[UNIDADES]</a:t>
            </a:r>
            <a:r>
              <a:rPr lang="en-US" sz="2190" b="1" i="1" dirty="0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 </a:t>
            </a:r>
            <a:r>
              <a:rPr lang="en-US" sz="2190" b="1" i="1" dirty="0" err="1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unidades</a:t>
            </a:r>
            <a:endParaRPr lang="en-US" sz="2190" b="1" i="1" dirty="0">
              <a:solidFill>
                <a:srgbClr val="FFD300"/>
              </a:solidFill>
              <a:latin typeface="Open Sans Bold Italics"/>
              <a:ea typeface="Open Sans Bold Italics"/>
              <a:cs typeface="Open Sans Bold Italics"/>
              <a:sym typeface="Open Sans Bold Italics"/>
            </a:endParaRPr>
          </a:p>
          <a:p>
            <a:pPr algn="l">
              <a:lnSpc>
                <a:spcPts val="3067"/>
              </a:lnSpc>
              <a:spcBef>
                <a:spcPct val="0"/>
              </a:spcBef>
            </a:pPr>
            <a:endParaRPr lang="en-US" sz="2190" b="1" i="1" dirty="0">
              <a:solidFill>
                <a:srgbClr val="FFD300"/>
              </a:solidFill>
              <a:latin typeface="Open Sans Bold Italics"/>
              <a:ea typeface="Open Sans Bold Italics"/>
              <a:cs typeface="Open Sans Bold Italics"/>
              <a:sym typeface="Open Sans Bold Italics"/>
            </a:endParaRPr>
          </a:p>
          <a:p>
            <a:pPr algn="l">
              <a:lnSpc>
                <a:spcPts val="3067"/>
              </a:lnSpc>
              <a:spcBef>
                <a:spcPct val="0"/>
              </a:spcBef>
            </a:pPr>
            <a:r>
              <a:rPr lang="en-US" sz="2190" b="1" i="1" dirty="0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Valor total da </a:t>
            </a:r>
            <a:r>
              <a:rPr lang="en-US" sz="2190" b="1" i="1" dirty="0" err="1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mensalidade</a:t>
            </a:r>
            <a:r>
              <a:rPr lang="en-US" sz="2190" b="1" i="1" dirty="0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: [VALOR_COND] </a:t>
            </a:r>
          </a:p>
          <a:p>
            <a:pPr algn="l">
              <a:lnSpc>
                <a:spcPts val="3067"/>
              </a:lnSpc>
              <a:spcBef>
                <a:spcPct val="0"/>
              </a:spcBef>
            </a:pPr>
            <a:endParaRPr lang="en-US" sz="2190" b="1" i="1" dirty="0">
              <a:solidFill>
                <a:srgbClr val="FFD300"/>
              </a:solidFill>
              <a:latin typeface="Open Sans Bold Italics"/>
              <a:ea typeface="Open Sans Bold Italics"/>
              <a:cs typeface="Open Sans Bold Italics"/>
              <a:sym typeface="Open Sans Bold Italics"/>
            </a:endParaRPr>
          </a:p>
          <a:p>
            <a:pPr algn="l">
              <a:lnSpc>
                <a:spcPts val="3067"/>
              </a:lnSpc>
              <a:spcBef>
                <a:spcPct val="0"/>
              </a:spcBef>
            </a:pPr>
            <a:r>
              <a:rPr lang="en-US" sz="2190" b="1" i="1" dirty="0" err="1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Prazo</a:t>
            </a:r>
            <a:r>
              <a:rPr lang="en-US" sz="2190" b="1" i="1" dirty="0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: [PRAZO]</a:t>
            </a:r>
          </a:p>
          <a:p>
            <a:pPr algn="l">
              <a:lnSpc>
                <a:spcPts val="3067"/>
              </a:lnSpc>
              <a:spcBef>
                <a:spcPct val="0"/>
              </a:spcBef>
            </a:pPr>
            <a:endParaRPr lang="en-US" sz="2190" b="1" i="1" dirty="0">
              <a:solidFill>
                <a:srgbClr val="FFD300"/>
              </a:solidFill>
              <a:latin typeface="Open Sans Bold Italics"/>
              <a:ea typeface="Open Sans Bold Italics"/>
              <a:cs typeface="Open Sans Bold Italics"/>
              <a:sym typeface="Open Sans Bold Italics"/>
            </a:endParaRPr>
          </a:p>
          <a:p>
            <a:pPr algn="l">
              <a:lnSpc>
                <a:spcPts val="3067"/>
              </a:lnSpc>
              <a:spcBef>
                <a:spcPct val="0"/>
              </a:spcBef>
            </a:pPr>
            <a:r>
              <a:rPr lang="en-US" sz="2190" b="1" i="1" dirty="0" err="1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Período</a:t>
            </a:r>
            <a:r>
              <a:rPr lang="en-US" sz="2190" b="1" i="1" dirty="0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 </a:t>
            </a:r>
            <a:r>
              <a:rPr lang="en-US" sz="2190" b="1" i="1" dirty="0" err="1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Promocional</a:t>
            </a:r>
            <a:r>
              <a:rPr lang="en-US" sz="2190" b="1" i="1" dirty="0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:</a:t>
            </a:r>
            <a:br>
              <a:rPr lang="en-US" sz="2190" b="1" i="1" dirty="0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</a:br>
            <a:r>
              <a:rPr lang="en-US" sz="2190" b="1" i="1" dirty="0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- [PROMO_MES]</a:t>
            </a:r>
            <a:br>
              <a:rPr lang="en-US" sz="2190" b="1" i="1" dirty="0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</a:br>
            <a:r>
              <a:rPr lang="en-US" sz="2190" b="1" i="1" dirty="0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- [PROMO_VALOR]</a:t>
            </a:r>
          </a:p>
          <a:p>
            <a:pPr algn="l">
              <a:lnSpc>
                <a:spcPts val="3067"/>
              </a:lnSpc>
              <a:spcBef>
                <a:spcPct val="0"/>
              </a:spcBef>
            </a:pPr>
            <a:endParaRPr lang="en-US" sz="2190" b="1" i="1" dirty="0">
              <a:solidFill>
                <a:srgbClr val="FFD300"/>
              </a:solidFill>
              <a:latin typeface="Open Sans Bold Italics"/>
              <a:ea typeface="Open Sans Bold Italics"/>
              <a:cs typeface="Open Sans Bold Italics"/>
              <a:sym typeface="Open Sans Bold Italics"/>
            </a:endParaRPr>
          </a:p>
          <a:p>
            <a:pPr algn="l">
              <a:lnSpc>
                <a:spcPts val="3067"/>
              </a:lnSpc>
              <a:spcBef>
                <a:spcPct val="0"/>
              </a:spcBef>
            </a:pPr>
            <a:r>
              <a:rPr lang="en-US" sz="2190" dirty="0" err="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Incluso</a:t>
            </a:r>
            <a:r>
              <a:rPr lang="en-US" sz="2190" dirty="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 </a:t>
            </a:r>
            <a:r>
              <a:rPr lang="en-US" sz="2190" dirty="0" err="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na</a:t>
            </a:r>
            <a:r>
              <a:rPr lang="en-US" sz="2190" dirty="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 </a:t>
            </a:r>
            <a:r>
              <a:rPr lang="en-US" sz="2190" dirty="0" err="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estrutura</a:t>
            </a:r>
            <a:r>
              <a:rPr lang="en-US" sz="2190" dirty="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 do Container: </a:t>
            </a:r>
            <a:r>
              <a:rPr lang="en-US" sz="2190" dirty="0" err="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Ar-condicionado</a:t>
            </a:r>
            <a:r>
              <a:rPr lang="en-US" sz="2190" dirty="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, </a:t>
            </a:r>
            <a:r>
              <a:rPr lang="en-US" sz="2190" dirty="0" err="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Espelhos</a:t>
            </a:r>
            <a:r>
              <a:rPr lang="en-US" sz="2190" dirty="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, </a:t>
            </a:r>
            <a:r>
              <a:rPr lang="en-US" sz="2190" dirty="0" err="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Comunicação</a:t>
            </a:r>
            <a:r>
              <a:rPr lang="en-US" sz="2190" dirty="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 visual </a:t>
            </a:r>
            <a:r>
              <a:rPr lang="en-US" sz="2190" dirty="0" err="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padrão</a:t>
            </a:r>
            <a:r>
              <a:rPr lang="en-US" sz="2190" dirty="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 Duo Fitness </a:t>
            </a:r>
          </a:p>
          <a:p>
            <a:pPr algn="l">
              <a:lnSpc>
                <a:spcPts val="3067"/>
              </a:lnSpc>
              <a:spcBef>
                <a:spcPct val="0"/>
              </a:spcBef>
            </a:pPr>
            <a:r>
              <a:rPr lang="en-US" sz="2190" dirty="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e a infra-</a:t>
            </a:r>
            <a:r>
              <a:rPr lang="en-US" sz="2190" dirty="0" err="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estrutura</a:t>
            </a:r>
            <a:r>
              <a:rPr lang="en-US" sz="2190" dirty="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 para </a:t>
            </a:r>
            <a:r>
              <a:rPr lang="en-US" sz="2190" dirty="0" err="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instalação</a:t>
            </a:r>
            <a:r>
              <a:rPr lang="en-US" sz="2190" dirty="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.</a:t>
            </a:r>
          </a:p>
          <a:p>
            <a:pPr algn="l">
              <a:lnSpc>
                <a:spcPts val="3067"/>
              </a:lnSpc>
              <a:spcBef>
                <a:spcPct val="0"/>
              </a:spcBef>
            </a:pPr>
            <a:endParaRPr lang="en-US" sz="2190" dirty="0">
              <a:solidFill>
                <a:srgbClr val="FFFFFF"/>
              </a:solidFill>
              <a:latin typeface="Open Sans"/>
              <a:ea typeface="Open Sans"/>
              <a:cs typeface="Open Sans"/>
              <a:sym typeface="Open Sans"/>
            </a:endParaRPr>
          </a:p>
          <a:p>
            <a:pPr algn="l">
              <a:lnSpc>
                <a:spcPts val="3067"/>
              </a:lnSpc>
              <a:spcBef>
                <a:spcPct val="0"/>
              </a:spcBef>
            </a:pPr>
            <a:endParaRPr lang="en-US" sz="2190" dirty="0">
              <a:solidFill>
                <a:srgbClr val="FFFFFF"/>
              </a:solidFill>
              <a:latin typeface="Open Sans"/>
              <a:ea typeface="Open Sans"/>
              <a:cs typeface="Open Sans"/>
              <a:sym typeface="Open Sans"/>
            </a:endParaRPr>
          </a:p>
          <a:p>
            <a:pPr algn="l">
              <a:lnSpc>
                <a:spcPts val="3067"/>
              </a:lnSpc>
              <a:spcBef>
                <a:spcPct val="0"/>
              </a:spcBef>
            </a:pPr>
            <a:r>
              <a:rPr lang="en-US" sz="2190" b="1" i="1" dirty="0">
                <a:solidFill>
                  <a:srgbClr val="0000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BÔNUS:</a:t>
            </a:r>
            <a:r>
              <a:rPr lang="en-US" sz="2190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 </a:t>
            </a:r>
            <a:r>
              <a:rPr lang="en-US" sz="2190" dirty="0" err="1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Manutenção</a:t>
            </a:r>
            <a:r>
              <a:rPr lang="en-US" sz="2190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 </a:t>
            </a:r>
            <a:r>
              <a:rPr lang="en-US" sz="2190" dirty="0" err="1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Preventiva</a:t>
            </a:r>
            <a:r>
              <a:rPr lang="en-US" sz="2190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 Mensal </a:t>
            </a:r>
            <a:r>
              <a:rPr lang="en-US" sz="2190" dirty="0" err="1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Inclusa</a:t>
            </a:r>
            <a:r>
              <a:rPr lang="en-US" sz="2190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.</a:t>
            </a:r>
          </a:p>
          <a:p>
            <a:pPr algn="l">
              <a:lnSpc>
                <a:spcPts val="3067"/>
              </a:lnSpc>
              <a:spcBef>
                <a:spcPct val="0"/>
              </a:spcBef>
            </a:pPr>
            <a:endParaRPr lang="en-US" sz="2190" dirty="0">
              <a:solidFill>
                <a:srgbClr val="000000"/>
              </a:solidFill>
              <a:latin typeface="Open Sans"/>
              <a:ea typeface="Open Sans"/>
              <a:cs typeface="Open Sans"/>
              <a:sym typeface="Open Sans"/>
            </a:endParaRPr>
          </a:p>
          <a:p>
            <a:pPr algn="l">
              <a:lnSpc>
                <a:spcPts val="3067"/>
              </a:lnSpc>
              <a:spcBef>
                <a:spcPct val="0"/>
              </a:spcBef>
            </a:pPr>
            <a:endParaRPr lang="en-US" sz="2190" dirty="0">
              <a:solidFill>
                <a:srgbClr val="000000"/>
              </a:solidFill>
              <a:latin typeface="Open Sans"/>
              <a:ea typeface="Open Sans"/>
              <a:cs typeface="Open Sans"/>
              <a:sym typeface="Open Sans"/>
            </a:endParaRPr>
          </a:p>
          <a:p>
            <a:pPr algn="l">
              <a:lnSpc>
                <a:spcPts val="3067"/>
              </a:lnSpc>
              <a:spcBef>
                <a:spcPct val="0"/>
              </a:spcBef>
            </a:pPr>
            <a:r>
              <a:rPr lang="en-US" sz="2190" b="1" i="1" dirty="0" err="1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Proposta</a:t>
            </a:r>
            <a:r>
              <a:rPr lang="en-US" sz="2190" b="1" i="1" dirty="0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 </a:t>
            </a:r>
            <a:r>
              <a:rPr lang="en-US" sz="2190" b="1" i="1" dirty="0" err="1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válida</a:t>
            </a:r>
            <a:r>
              <a:rPr lang="en-US" sz="2190" b="1" i="1" dirty="0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 </a:t>
            </a:r>
            <a:r>
              <a:rPr lang="en-US" sz="2190" b="1" i="1" dirty="0" err="1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por</a:t>
            </a:r>
            <a:r>
              <a:rPr lang="en-US" sz="2190" b="1" i="1" dirty="0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 10 </a:t>
            </a:r>
            <a:r>
              <a:rPr lang="en-US" sz="2190" b="1" i="1" dirty="0" err="1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dias</a:t>
            </a:r>
            <a:r>
              <a:rPr lang="en-US" sz="2190" b="1" i="1" dirty="0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22</TotalTime>
  <Words>353</Words>
  <Application>Microsoft Office PowerPoint</Application>
  <PresentationFormat>Custom</PresentationFormat>
  <Paragraphs>97</Paragraphs>
  <Slides>28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28</vt:i4>
      </vt:variant>
    </vt:vector>
  </HeadingPairs>
  <TitlesOfParts>
    <vt:vector size="34" baseType="lpstr">
      <vt:lpstr>Calibri</vt:lpstr>
      <vt:lpstr>Open Sans</vt:lpstr>
      <vt:lpstr>Open Sans Bold</vt:lpstr>
      <vt:lpstr>Arial</vt:lpstr>
      <vt:lpstr>Open Sans Bold Italics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PROPOSTA DUO FITNESS DUO</dc:title>
  <dc:creator>Victor Barros</dc:creator>
  <cp:lastModifiedBy>Victor Barros</cp:lastModifiedBy>
  <cp:revision>9</cp:revision>
  <dcterms:created xsi:type="dcterms:W3CDTF">2006-08-16T00:00:00Z</dcterms:created>
  <dcterms:modified xsi:type="dcterms:W3CDTF">2026-06-30T20:16:54Z</dcterms:modified>
  <dc:identifier>DAHNU2YpKXs</dc:identifier>
</cp:coreProperties>
</file>