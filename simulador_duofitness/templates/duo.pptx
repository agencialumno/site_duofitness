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85" r:id="rId14"/>
    <p:sldId id="268" r:id="rId15"/>
    <p:sldId id="270" r:id="rId16"/>
    <p:sldId id="273" r:id="rId17"/>
    <p:sldId id="269" r:id="rId18"/>
    <p:sldId id="275" r:id="rId19"/>
    <p:sldId id="274" r:id="rId20"/>
    <p:sldId id="276" r:id="rId21"/>
    <p:sldId id="278" r:id="rId22"/>
    <p:sldId id="277" r:id="rId23"/>
    <p:sldId id="279" r:id="rId24"/>
    <p:sldId id="280" r:id="rId25"/>
    <p:sldId id="281" r:id="rId26"/>
    <p:sldId id="282" r:id="rId27"/>
    <p:sldId id="283" r:id="rId28"/>
    <p:sldId id="284" r:id="rId29"/>
  </p:sldIdLst>
  <p:sldSz cx="18288000" cy="10287000"/>
  <p:notesSz cx="6858000" cy="9144000"/>
  <p:embeddedFontLst>
    <p:embeddedFont>
      <p:font typeface="Open Sans" pitchFamily="2" charset="0"/>
      <p:regular r:id="rId30"/>
      <p:bold r:id="rId31"/>
      <p:boldItalic r:id="rId32"/>
    </p:embeddedFont>
    <p:embeddedFont>
      <p:font typeface="Open Sans Bold" pitchFamily="2" charset="0"/>
      <p:bold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300"/>
    <a:srgbClr val="19120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989874" y="5415783"/>
            <a:ext cx="4345068" cy="826209"/>
            <a:chOff x="0" y="0"/>
            <a:chExt cx="1437020" cy="27324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2783941" y="5415783"/>
            <a:ext cx="4345068" cy="826209"/>
            <a:chOff x="0" y="0"/>
            <a:chExt cx="1437020" cy="27324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37020" cy="273248"/>
            </a:xfrm>
            <a:custGeom>
              <a:avLst/>
              <a:gdLst/>
              <a:ahLst/>
              <a:cxnLst/>
              <a:rect l="l" t="t" r="r" b="b"/>
              <a:pathLst>
                <a:path w="1437020" h="273248">
                  <a:moveTo>
                    <a:pt x="0" y="0"/>
                  </a:moveTo>
                  <a:lnTo>
                    <a:pt x="1437020" y="0"/>
                  </a:lnTo>
                  <a:lnTo>
                    <a:pt x="1437020" y="273248"/>
                  </a:lnTo>
                  <a:lnTo>
                    <a:pt x="0" y="27324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437020" cy="31134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r>
                <a:rPr lang="en-US" sz="1899">
                  <a:solidFill>
                    <a:srgbClr val="000000"/>
                  </a:solidFill>
                  <a:latin typeface="Open Sans"/>
                  <a:ea typeface="Open Sans"/>
                  <a:cs typeface="Open Sans"/>
                  <a:sym typeface="Open Sans"/>
                </a:rPr>
                <a:t> </a:t>
              </a:r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2897064" y="5525788"/>
            <a:ext cx="4345068" cy="53482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4662"/>
              </a:lnSpc>
            </a:pPr>
            <a:r>
              <a:rPr lang="en-US" sz="2500" b="1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989874" y="6368859"/>
            <a:ext cx="4191726" cy="37202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122"/>
              </a:lnSpc>
            </a:pP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Validade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da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proposta</a:t>
            </a:r>
            <a:r>
              <a:rPr lang="en-US" sz="223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10 </a:t>
            </a:r>
            <a:r>
              <a:rPr lang="en-US" sz="223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dias</a:t>
            </a:r>
            <a:endParaRPr lang="en-US" sz="223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157720" y="5508677"/>
            <a:ext cx="1530522" cy="5737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62"/>
              </a:lnSpc>
            </a:pPr>
            <a:r>
              <a:rPr lang="en-US" sz="3330" b="1" i="1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Cliente: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9143931" y="7636273"/>
            <a:ext cx="8915469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[ESTEIRA]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B55B603-80F3-3401-EC36-106890418E2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95554EB-6192-7D60-653E-8534F78C9944}"/>
              </a:ext>
            </a:extLst>
          </p:cNvPr>
          <p:cNvSpPr txBox="1"/>
          <p:nvPr/>
        </p:nvSpPr>
        <p:spPr>
          <a:xfrm>
            <a:off x="7772400" y="7658100"/>
            <a:ext cx="10363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[BIKE_KIKOS]</a:t>
            </a:r>
          </a:p>
        </p:txBody>
      </p:sp>
    </p:spTree>
    <p:extLst>
      <p:ext uri="{BB962C8B-B14F-4D97-AF65-F5344CB8AC3E}">
        <p14:creationId xmlns:p14="http://schemas.microsoft.com/office/powerpoint/2010/main" val="16384244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9143931" y="7636273"/>
            <a:ext cx="7239069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02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A5C2A8-01D7-D7F3-1A75-D947A552A0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437C1AF-F209-374A-928D-1EB48049732A}"/>
              </a:ext>
            </a:extLst>
          </p:cNvPr>
          <p:cNvSpPr txBox="1"/>
          <p:nvPr/>
        </p:nvSpPr>
        <p:spPr>
          <a:xfrm>
            <a:off x="7772400" y="7658100"/>
            <a:ext cx="10058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[BIKE_SPI]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9144000" y="7636273"/>
            <a:ext cx="6858000" cy="104522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A5A8814-47CF-9681-7B07-F1616B2000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93530F-E201-BE38-7CD6-187BDECFD522}"/>
              </a:ext>
            </a:extLst>
          </p:cNvPr>
          <p:cNvSpPr txBox="1"/>
          <p:nvPr/>
        </p:nvSpPr>
        <p:spPr>
          <a:xfrm>
            <a:off x="7772400" y="7658100"/>
            <a:ext cx="11277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[CROSS_SMITH]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763000" y="7658100"/>
            <a:ext cx="9982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[AD_ABD]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620000" y="8953500"/>
            <a:ext cx="9220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[EX_FLX]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C1E31A3-769F-D5DC-876D-F0327AE82E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162800" y="7658100"/>
            <a:ext cx="113538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[BANCO_MULT]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8077200" y="7658100"/>
            <a:ext cx="104394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[BANCO_SUP]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112775" y="4895896"/>
            <a:ext cx="8441425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110 kg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2414353-6CD7-8607-46C7-6120C187B3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375818" y="6286500"/>
            <a:ext cx="96012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7239000" y="8520061"/>
            <a:ext cx="8738018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[ANILHA]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/>
          <p:cNvSpPr txBox="1"/>
          <p:nvPr/>
        </p:nvSpPr>
        <p:spPr>
          <a:xfrm>
            <a:off x="6698690" y="8984030"/>
            <a:ext cx="6712510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01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2161DAF-895A-B196-F3C0-F6759CB134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5" name="TextBox 5"/>
          <p:cNvSpPr txBox="1"/>
          <p:nvPr/>
        </p:nvSpPr>
        <p:spPr>
          <a:xfrm>
            <a:off x="6781800" y="7734300"/>
            <a:ext cx="101346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[BARRA_W]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F5B4B9-6CE3-C9C4-76B1-B98417ACA0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6073876" y="8420100"/>
            <a:ext cx="10842524" cy="104303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[SUP_HALTER]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6096000" y="6234061"/>
            <a:ext cx="11049000" cy="104150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8659"/>
              </a:lnSpc>
            </a:pPr>
            <a:r>
              <a:rPr lang="en-US" sz="6185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6185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[SUP_BARRA]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6A46832-8710-6AB8-7D28-B6D51F0465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7519885" y="5270903"/>
            <a:ext cx="8786915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[TRI_SERG]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329510" y="7130499"/>
            <a:ext cx="904409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[CORDA_SERG]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9210572" y="8938978"/>
            <a:ext cx="8315428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[PUX_ROMA]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B15138D4-421A-804B-9B31-3C89E1DA79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3" name="TextBox 3"/>
          <p:cNvSpPr txBox="1"/>
          <p:nvPr/>
        </p:nvSpPr>
        <p:spPr>
          <a:xfrm>
            <a:off x="6629400" y="6438900"/>
            <a:ext cx="9220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[PUX_RETO]</a:t>
            </a:r>
          </a:p>
        </p:txBody>
      </p:sp>
      <p:sp>
        <p:nvSpPr>
          <p:cNvPr id="6" name="TextBox 3">
            <a:extLst>
              <a:ext uri="{FF2B5EF4-FFF2-40B4-BE49-F238E27FC236}">
                <a16:creationId xmlns:a16="http://schemas.microsoft.com/office/drawing/2014/main" id="{8AEFA930-84F7-9A6A-D9FE-0EC501CFAF7A}"/>
              </a:ext>
            </a:extLst>
          </p:cNvPr>
          <p:cNvSpPr txBox="1"/>
          <p:nvPr/>
        </p:nvSpPr>
        <p:spPr>
          <a:xfrm>
            <a:off x="7467600" y="8344515"/>
            <a:ext cx="9220200" cy="87852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[PUX_TORNO]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5B6CB9E0-3E2F-1F48-F034-A2C48615AF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4" name="TextBox 4"/>
          <p:cNvSpPr txBox="1"/>
          <p:nvPr/>
        </p:nvSpPr>
        <p:spPr>
          <a:xfrm>
            <a:off x="8001000" y="6286500"/>
            <a:ext cx="96012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[COLCHONETE]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8001000" y="8295353"/>
            <a:ext cx="9906000" cy="86299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ts val="7212"/>
              </a:lnSpc>
            </a:pPr>
            <a:r>
              <a:rPr lang="en-US" sz="5151" b="1" dirty="0" err="1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Quantidade</a:t>
            </a:r>
            <a:r>
              <a:rPr lang="en-US" sz="5151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: [STEP_LIGHT]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7955943" y="3771900"/>
            <a:ext cx="4394015" cy="3054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Rack Vertical - (10 pares)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Suporte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Barras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Storage Rack - (15 pares)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(1800mm)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Olímpica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(50mm - 1200mm)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Curvada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Triângulo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Cross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Corda Cross</a:t>
            </a:r>
          </a:p>
        </p:txBody>
      </p:sp>
      <p:grpSp>
        <p:nvGrpSpPr>
          <p:cNvPr id="4" name="Group 4"/>
          <p:cNvGrpSpPr/>
          <p:nvPr/>
        </p:nvGrpSpPr>
        <p:grpSpPr>
          <a:xfrm>
            <a:off x="2590800" y="3471477"/>
            <a:ext cx="335199" cy="278090"/>
            <a:chOff x="0" y="0"/>
            <a:chExt cx="62793" cy="7324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" name="TextBox 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03</a:t>
              </a:r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2590800" y="3833495"/>
            <a:ext cx="335199" cy="278090"/>
            <a:chOff x="0" y="0"/>
            <a:chExt cx="62793" cy="73242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7620000" y="3780147"/>
            <a:ext cx="335943" cy="350420"/>
            <a:chOff x="0" y="-19050"/>
            <a:chExt cx="62793" cy="9229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2877800" y="4200100"/>
            <a:ext cx="325897" cy="278090"/>
            <a:chOff x="0" y="0"/>
            <a:chExt cx="62793" cy="7324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2877800" y="4581167"/>
            <a:ext cx="325897" cy="278090"/>
            <a:chOff x="0" y="0"/>
            <a:chExt cx="62793" cy="7324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2877800" y="4964032"/>
            <a:ext cx="325897" cy="278090"/>
            <a:chOff x="0" y="0"/>
            <a:chExt cx="62793" cy="732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12877800" y="5346897"/>
            <a:ext cx="325897" cy="278090"/>
            <a:chOff x="0" y="0"/>
            <a:chExt cx="62793" cy="73242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4" name="TextBox 2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2877800" y="5729761"/>
            <a:ext cx="325897" cy="278090"/>
            <a:chOff x="0" y="0"/>
            <a:chExt cx="62793" cy="73242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27" name="TextBox 2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7610477" y="4233544"/>
            <a:ext cx="335942" cy="278090"/>
            <a:chOff x="0" y="0"/>
            <a:chExt cx="62793" cy="73242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0" name="TextBox 3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7620001" y="4616409"/>
            <a:ext cx="326418" cy="278090"/>
            <a:chOff x="0" y="0"/>
            <a:chExt cx="62793" cy="73242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3" name="TextBox 3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7620000" y="4992815"/>
            <a:ext cx="335943" cy="278090"/>
            <a:chOff x="0" y="0"/>
            <a:chExt cx="62793" cy="73242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6" name="TextBox 3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37" name="Group 37"/>
          <p:cNvGrpSpPr/>
          <p:nvPr/>
        </p:nvGrpSpPr>
        <p:grpSpPr>
          <a:xfrm>
            <a:off x="7620000" y="5375680"/>
            <a:ext cx="335943" cy="278090"/>
            <a:chOff x="0" y="0"/>
            <a:chExt cx="62793" cy="73242"/>
          </a:xfrm>
        </p:grpSpPr>
        <p:sp>
          <p:nvSpPr>
            <p:cNvPr id="38" name="Freeform 38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39" name="TextBox 39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0" name="Group 40"/>
          <p:cNvGrpSpPr/>
          <p:nvPr/>
        </p:nvGrpSpPr>
        <p:grpSpPr>
          <a:xfrm>
            <a:off x="7620001" y="5762248"/>
            <a:ext cx="326418" cy="278090"/>
            <a:chOff x="0" y="0"/>
            <a:chExt cx="62793" cy="7324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2" name="TextBox 42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7620001" y="6163987"/>
            <a:ext cx="326418" cy="278090"/>
            <a:chOff x="0" y="0"/>
            <a:chExt cx="62793" cy="73242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5" name="TextBox 45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7620001" y="6537327"/>
            <a:ext cx="326418" cy="278090"/>
            <a:chOff x="0" y="0"/>
            <a:chExt cx="62793" cy="73242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48" name="TextBox 48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2590800" y="4222033"/>
            <a:ext cx="335199" cy="278090"/>
            <a:chOff x="0" y="0"/>
            <a:chExt cx="62793" cy="7324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2590800" y="4605994"/>
            <a:ext cx="335199" cy="278090"/>
            <a:chOff x="0" y="0"/>
            <a:chExt cx="62793" cy="73242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4" name="TextBox 54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02</a:t>
              </a:r>
            </a:p>
          </p:txBody>
        </p:sp>
      </p:grpSp>
      <p:grpSp>
        <p:nvGrpSpPr>
          <p:cNvPr id="55" name="Group 55"/>
          <p:cNvGrpSpPr/>
          <p:nvPr/>
        </p:nvGrpSpPr>
        <p:grpSpPr>
          <a:xfrm>
            <a:off x="2590800" y="4998383"/>
            <a:ext cx="335199" cy="278090"/>
            <a:chOff x="0" y="0"/>
            <a:chExt cx="62793" cy="73242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57" name="TextBox 57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58" name="Group 58"/>
          <p:cNvGrpSpPr/>
          <p:nvPr/>
        </p:nvGrpSpPr>
        <p:grpSpPr>
          <a:xfrm>
            <a:off x="2590800" y="5381248"/>
            <a:ext cx="335199" cy="278090"/>
            <a:chOff x="0" y="0"/>
            <a:chExt cx="62793" cy="73242"/>
          </a:xfrm>
        </p:grpSpPr>
        <p:sp>
          <p:nvSpPr>
            <p:cNvPr id="59" name="Freeform 59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0" name="TextBox 60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1" name="Group 61"/>
          <p:cNvGrpSpPr/>
          <p:nvPr/>
        </p:nvGrpSpPr>
        <p:grpSpPr>
          <a:xfrm>
            <a:off x="2590800" y="5764113"/>
            <a:ext cx="335199" cy="278090"/>
            <a:chOff x="0" y="0"/>
            <a:chExt cx="62793" cy="73242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3" name="TextBox 63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64" name="Group 64"/>
          <p:cNvGrpSpPr/>
          <p:nvPr/>
        </p:nvGrpSpPr>
        <p:grpSpPr>
          <a:xfrm>
            <a:off x="2590800" y="6156502"/>
            <a:ext cx="335199" cy="278090"/>
            <a:chOff x="0" y="0"/>
            <a:chExt cx="62793" cy="73242"/>
          </a:xfrm>
        </p:grpSpPr>
        <p:sp>
          <p:nvSpPr>
            <p:cNvPr id="65" name="Freeform 65"/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66" name="TextBox 66"/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  <p:grpSp>
        <p:nvGrpSpPr>
          <p:cNvPr id="70" name="Group 70"/>
          <p:cNvGrpSpPr/>
          <p:nvPr/>
        </p:nvGrpSpPr>
        <p:grpSpPr>
          <a:xfrm>
            <a:off x="6605400" y="2472975"/>
            <a:ext cx="5154571" cy="980717"/>
            <a:chOff x="0" y="0"/>
            <a:chExt cx="1357582" cy="258296"/>
          </a:xfrm>
        </p:grpSpPr>
        <p:sp>
          <p:nvSpPr>
            <p:cNvPr id="71" name="Freeform 71"/>
            <p:cNvSpPr/>
            <p:nvPr/>
          </p:nvSpPr>
          <p:spPr>
            <a:xfrm>
              <a:off x="0" y="0"/>
              <a:ext cx="1357582" cy="258296"/>
            </a:xfrm>
            <a:custGeom>
              <a:avLst/>
              <a:gdLst/>
              <a:ahLst/>
              <a:cxnLst/>
              <a:rect l="l" t="t" r="r" b="b"/>
              <a:pathLst>
                <a:path w="1357582" h="258296">
                  <a:moveTo>
                    <a:pt x="0" y="0"/>
                  </a:moveTo>
                  <a:lnTo>
                    <a:pt x="1357582" y="0"/>
                  </a:lnTo>
                  <a:lnTo>
                    <a:pt x="1357582" y="258296"/>
                  </a:lnTo>
                  <a:lnTo>
                    <a:pt x="0" y="258296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2" name="TextBox 72"/>
            <p:cNvSpPr txBox="1"/>
            <p:nvPr/>
          </p:nvSpPr>
          <p:spPr>
            <a:xfrm>
              <a:off x="0" y="-38100"/>
              <a:ext cx="1357582" cy="29639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73" name="TextBox 73"/>
          <p:cNvSpPr txBox="1"/>
          <p:nvPr/>
        </p:nvSpPr>
        <p:spPr>
          <a:xfrm>
            <a:off x="2925999" y="3390900"/>
            <a:ext cx="3679400" cy="45899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Esteira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Profissional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Bicicleta Spinning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Magnética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Extensora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Flexora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Dual Cable Crossover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Leg Press</a:t>
            </a: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Máquina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Bíceps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/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Cadeira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Adutora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e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Abdutora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Supino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Banco Horizontal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Regulável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110kg Halteres 1-10kg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100kg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Anilhas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(1,30/kg)</a:t>
            </a: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1125kg Halteres 12,5 - 50kg</a:t>
            </a:r>
          </a:p>
        </p:txBody>
      </p:sp>
      <p:sp>
        <p:nvSpPr>
          <p:cNvPr id="74" name="TextBox 74"/>
          <p:cNvSpPr txBox="1"/>
          <p:nvPr/>
        </p:nvSpPr>
        <p:spPr>
          <a:xfrm>
            <a:off x="13213222" y="4119523"/>
            <a:ext cx="2483978" cy="19608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Puxador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Tríceps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Barra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Remada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Step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Ajustável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Colchonetes</a:t>
            </a: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 algn="l">
              <a:lnSpc>
                <a:spcPts val="3067"/>
              </a:lnSpc>
            </a:pP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Tornozeleira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Polia</a:t>
            </a:r>
          </a:p>
        </p:txBody>
      </p:sp>
      <p:sp>
        <p:nvSpPr>
          <p:cNvPr id="75" name="TextBox 75"/>
          <p:cNvSpPr txBox="1"/>
          <p:nvPr/>
        </p:nvSpPr>
        <p:spPr>
          <a:xfrm>
            <a:off x="7048872" y="2419315"/>
            <a:ext cx="4267627" cy="9049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934"/>
              </a:lnSpc>
            </a:pPr>
            <a:r>
              <a:rPr lang="en-US" sz="500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COMBO DUO</a:t>
            </a:r>
          </a:p>
        </p:txBody>
      </p:sp>
      <p:grpSp>
        <p:nvGrpSpPr>
          <p:cNvPr id="76" name="Group 67">
            <a:extLst>
              <a:ext uri="{FF2B5EF4-FFF2-40B4-BE49-F238E27FC236}">
                <a16:creationId xmlns:a16="http://schemas.microsoft.com/office/drawing/2014/main" id="{D2128138-AC6D-1E35-BD0A-8FA90B287B46}"/>
              </a:ext>
            </a:extLst>
          </p:cNvPr>
          <p:cNvGrpSpPr/>
          <p:nvPr/>
        </p:nvGrpSpPr>
        <p:grpSpPr>
          <a:xfrm>
            <a:off x="2590799" y="6476561"/>
            <a:ext cx="335199" cy="350420"/>
            <a:chOff x="0" y="-19050"/>
            <a:chExt cx="62793" cy="92292"/>
          </a:xfrm>
        </p:grpSpPr>
        <p:sp>
          <p:nvSpPr>
            <p:cNvPr id="78" name="Freeform 68">
              <a:extLst>
                <a:ext uri="{FF2B5EF4-FFF2-40B4-BE49-F238E27FC236}">
                  <a16:creationId xmlns:a16="http://schemas.microsoft.com/office/drawing/2014/main" id="{62157D64-1C49-E5DF-46DB-89014F3E5902}"/>
                </a:ext>
              </a:extLst>
            </p:cNvPr>
            <p:cNvSpPr/>
            <p:nvPr/>
          </p:nvSpPr>
          <p:spPr>
            <a:xfrm>
              <a:off x="0" y="0"/>
              <a:ext cx="62793" cy="73242"/>
            </a:xfrm>
            <a:custGeom>
              <a:avLst/>
              <a:gdLst/>
              <a:ahLst/>
              <a:cxnLst/>
              <a:rect l="l" t="t" r="r" b="b"/>
              <a:pathLst>
                <a:path w="62793" h="73242">
                  <a:moveTo>
                    <a:pt x="0" y="0"/>
                  </a:moveTo>
                  <a:lnTo>
                    <a:pt x="62793" y="0"/>
                  </a:lnTo>
                  <a:lnTo>
                    <a:pt x="62793" y="73242"/>
                  </a:lnTo>
                  <a:lnTo>
                    <a:pt x="0" y="7324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79" name="TextBox 69">
              <a:extLst>
                <a:ext uri="{FF2B5EF4-FFF2-40B4-BE49-F238E27FC236}">
                  <a16:creationId xmlns:a16="http://schemas.microsoft.com/office/drawing/2014/main" id="{1E3A534D-65BE-4B16-C44E-F6F5BC750AB5}"/>
                </a:ext>
              </a:extLst>
            </p:cNvPr>
            <p:cNvSpPr txBox="1"/>
            <p:nvPr/>
          </p:nvSpPr>
          <p:spPr>
            <a:xfrm>
              <a:off x="0" y="-19050"/>
              <a:ext cx="62793" cy="922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387"/>
                </a:lnSpc>
              </a:pPr>
              <a:r>
                <a:rPr lang="en-US" sz="990" b="1" i="1" dirty="0">
                  <a:solidFill>
                    <a:srgbClr val="000000"/>
                  </a:solidFill>
                  <a:latin typeface="Open Sans Bold Italics"/>
                  <a:ea typeface="Open Sans Bold Italics"/>
                  <a:cs typeface="Open Sans Bold Italics"/>
                  <a:sym typeface="Open Sans Bold Italics"/>
                </a:rPr>
                <a:t>01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grpSp>
        <p:nvGrpSpPr>
          <p:cNvPr id="3" name="Group 3"/>
          <p:cNvGrpSpPr/>
          <p:nvPr/>
        </p:nvGrpSpPr>
        <p:grpSpPr>
          <a:xfrm>
            <a:off x="1331295" y="4142693"/>
            <a:ext cx="7484725" cy="1432097"/>
            <a:chOff x="0" y="0"/>
            <a:chExt cx="1971286" cy="377178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971286" cy="377178"/>
            </a:xfrm>
            <a:custGeom>
              <a:avLst/>
              <a:gdLst/>
              <a:ahLst/>
              <a:cxnLst/>
              <a:rect l="l" t="t" r="r" b="b"/>
              <a:pathLst>
                <a:path w="1971286" h="377178">
                  <a:moveTo>
                    <a:pt x="0" y="0"/>
                  </a:moveTo>
                  <a:lnTo>
                    <a:pt x="1971286" y="0"/>
                  </a:lnTo>
                  <a:lnTo>
                    <a:pt x="1971286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FFFF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971286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331295" y="4142693"/>
            <a:ext cx="3778620" cy="1432097"/>
            <a:chOff x="0" y="0"/>
            <a:chExt cx="995192" cy="377178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995192" cy="377178"/>
            </a:xfrm>
            <a:custGeom>
              <a:avLst/>
              <a:gdLst/>
              <a:ahLst/>
              <a:cxnLst/>
              <a:rect l="l" t="t" r="r" b="b"/>
              <a:pathLst>
                <a:path w="995192" h="377178">
                  <a:moveTo>
                    <a:pt x="0" y="0"/>
                  </a:moveTo>
                  <a:lnTo>
                    <a:pt x="995192" y="0"/>
                  </a:lnTo>
                  <a:lnTo>
                    <a:pt x="995192" y="377178"/>
                  </a:lnTo>
                  <a:lnTo>
                    <a:pt x="0" y="377178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995192" cy="41527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9677048" y="7810500"/>
            <a:ext cx="6611142" cy="685611"/>
            <a:chOff x="0" y="0"/>
            <a:chExt cx="1741206" cy="18057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741206" cy="180572"/>
            </a:xfrm>
            <a:custGeom>
              <a:avLst/>
              <a:gdLst/>
              <a:ahLst/>
              <a:cxnLst/>
              <a:rect l="l" t="t" r="r" b="b"/>
              <a:pathLst>
                <a:path w="1741206" h="180572">
                  <a:moveTo>
                    <a:pt x="0" y="0"/>
                  </a:moveTo>
                  <a:lnTo>
                    <a:pt x="1741206" y="0"/>
                  </a:lnTo>
                  <a:lnTo>
                    <a:pt x="1741206" y="180572"/>
                  </a:lnTo>
                  <a:lnTo>
                    <a:pt x="0" y="180572"/>
                  </a:lnTo>
                  <a:close/>
                </a:path>
              </a:pathLst>
            </a:custGeom>
            <a:solidFill>
              <a:srgbClr val="FFD300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741206" cy="21867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067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600193" y="4260684"/>
            <a:ext cx="3346007" cy="10662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Mensalidade </a:t>
            </a:r>
          </a:p>
          <a:p>
            <a:pPr algn="l">
              <a:lnSpc>
                <a:spcPts val="4298"/>
              </a:lnSpc>
            </a:pPr>
            <a:r>
              <a:rPr lang="en-US" sz="3070" b="1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por apartamento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5578684" y="2993443"/>
            <a:ext cx="3817902" cy="5059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38"/>
              </a:lnSpc>
            </a:pPr>
            <a:r>
              <a:rPr lang="en-US" sz="2500" b="1" dirty="0">
                <a:solidFill>
                  <a:srgbClr val="FFFFFF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[NOME]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5214690" y="4254328"/>
            <a:ext cx="3787592" cy="103580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8533"/>
              </a:lnSpc>
            </a:pPr>
            <a:r>
              <a:rPr lang="en-US" sz="6095" b="1" spc="-176" dirty="0">
                <a:solidFill>
                  <a:srgbClr val="000000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[VALOR]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863310" y="876300"/>
            <a:ext cx="7395990" cy="87102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Total de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unidades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informadas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: </a:t>
            </a:r>
            <a:r>
              <a:rPr lang="en-US" sz="2190" b="1" i="1" dirty="0">
                <a:solidFill>
                  <a:srgbClr val="FFD300"/>
                </a:solidFill>
                <a:latin typeface="Open Sans"/>
                <a:ea typeface="Open Sans"/>
                <a:cs typeface="Open Sans"/>
                <a:sym typeface="Open Sans"/>
              </a:rPr>
              <a:t>[UNIDADES]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unidades</a:t>
            </a: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Valor total da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mensalidade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[VALOR_COND]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Prazo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 [PRAZO]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Período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Promocional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: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[PROMO_MES]</a:t>
            </a:r>
            <a:b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</a:b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- [PROMO_VALOR]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Equipamentos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Extras: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[EQUIP_EXTRA]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b="1" i="1" dirty="0">
              <a:solidFill>
                <a:srgbClr val="FFD300"/>
              </a:solidFill>
              <a:latin typeface="Open Sans Bold Italics"/>
              <a:ea typeface="Open Sans Bold Italics"/>
              <a:cs typeface="Open Sans Bold Italics"/>
              <a:sym typeface="Open Sans Bold Italic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Incluso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na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do Container: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Ar-condicionado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Espelhos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Comunicação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visual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padrão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Duo Fitness 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 a infra-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estrutura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para </a:t>
            </a:r>
            <a:r>
              <a:rPr lang="en-US" sz="219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instalação</a:t>
            </a:r>
            <a:r>
              <a:rPr lang="en-US" sz="219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>
                <a:solidFill>
                  <a:srgbClr val="0000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BÔNUS: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Manutenção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Preventiva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Mensal </a:t>
            </a:r>
            <a:r>
              <a:rPr lang="en-US" sz="2190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Inclusa</a:t>
            </a:r>
            <a:r>
              <a:rPr lang="en-US" sz="2190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endParaRPr lang="en-US" sz="2190" dirty="0">
              <a:solidFill>
                <a:srgbClr val="000000"/>
              </a:solidFill>
              <a:latin typeface="Open Sans"/>
              <a:ea typeface="Open Sans"/>
              <a:cs typeface="Open Sans"/>
              <a:sym typeface="Open Sans"/>
            </a:endParaRPr>
          </a:p>
          <a:p>
            <a:pPr>
              <a:lnSpc>
                <a:spcPts val="3067"/>
              </a:lnSpc>
              <a:spcBef>
                <a:spcPct val="0"/>
              </a:spcBef>
            </a:pP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Proposta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válida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por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 10 </a:t>
            </a:r>
            <a:r>
              <a:rPr lang="en-US" sz="2190" b="1" i="1" dirty="0" err="1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dias</a:t>
            </a:r>
            <a:r>
              <a:rPr lang="en-US" sz="2190" b="1" i="1" dirty="0">
                <a:solidFill>
                  <a:srgbClr val="FFD300"/>
                </a:solidFill>
                <a:latin typeface="Open Sans Bold Italics"/>
                <a:ea typeface="Open Sans Bold Italics"/>
                <a:cs typeface="Open Sans Bold Italics"/>
                <a:sym typeface="Open Sans Bold Italics"/>
              </a:rPr>
              <a:t>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28</TotalTime>
  <Words>361</Words>
  <Application>Microsoft Office PowerPoint</Application>
  <PresentationFormat>Custom</PresentationFormat>
  <Paragraphs>100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Open Sans</vt:lpstr>
      <vt:lpstr>Open Sans Bold</vt:lpstr>
      <vt:lpstr>Open Sans Bold Italics</vt:lpstr>
      <vt:lpstr>Calibri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PROPOSTA DUO FITNESS DUO</dc:title>
  <dc:creator>Victor Barros</dc:creator>
  <cp:lastModifiedBy>Victor Barros</cp:lastModifiedBy>
  <cp:revision>13</cp:revision>
  <dcterms:created xsi:type="dcterms:W3CDTF">2006-08-16T00:00:00Z</dcterms:created>
  <dcterms:modified xsi:type="dcterms:W3CDTF">2026-07-10T20:55:45Z</dcterms:modified>
  <dc:identifier>DAHNU2YpKXs</dc:identifier>
</cp:coreProperties>
</file>